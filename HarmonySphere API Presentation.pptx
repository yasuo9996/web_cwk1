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96"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Good morning/afternoon. My name is </a:t>
            </a:r>
            <a:r>
              <a:rPr lang="en-US" sz="1400" b="0" i="0" u="none" strike="noStrike">
                <a:solidFill>
                  <a:srgbClr val="000000"/>
                </a:solidFill>
              </a:rPr>
              <a:t>[Yi Fanyu], </a:t>
            </a:r>
            <a:r>
              <a:rPr lang="en-US" sz="1400" b="0" i="0" u="none" strike="noStrike" dirty="0">
                <a:solidFill>
                  <a:srgbClr val="000000"/>
                </a:solidFill>
              </a:rPr>
              <a:t>and I will be presenting my coursework project, </a:t>
            </a:r>
            <a:r>
              <a:rPr lang="en-US" sz="1400" b="0" i="0" u="none" strike="noStrike" dirty="0" err="1">
                <a:solidFill>
                  <a:srgbClr val="000000"/>
                </a:solidFill>
              </a:rPr>
              <a:t>HarmonySphere</a:t>
            </a:r>
            <a:r>
              <a:rPr lang="en-US" sz="1400" b="0" i="0" u="none" strike="noStrike" dirty="0">
                <a:solidFill>
                  <a:srgbClr val="000000"/>
                </a:solidFill>
              </a:rPr>
              <a:t> API. This project is a music feature and insights platform developed as part of the XJCO3011 module. Let's begin.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core problem is that existing music APIs are limited to basic data management. They don't offer insights into why a user likes a song. My goal with HarmonySphere was to change that. I aimed to create a platform that not only manages music data but also analyzes it, tracks user behavior, and provides transparent recommendations and user profiles, all accessible through a professional frontend.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demonstrates how my project meets all the mandatory requirements for this coursework. From implementing a SQL database with CRUD operations to providing comprehensive documentation and version control, every aspect has been carefully addressed. The 'Evidence' column points to where each requirement is fulfilled in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system follows a clean three-tier architecture. The frontend serves the UI, FastAPI handles the core logic and API endpoints, and SQLAlchemy interacts with the SQLite database. I chose this stack for its lightweight nature, high development efficiency, and excellent documentation capabilities, which are crucial for a project of this scope and for easy demonstration.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data model is designed to efficiently capture both music data and user interactions. The central entity is Track, which includes a rich set of acoustic features.</a:t>
            </a:r>
          </a:p>
          <a:p>
            <a:pPr indent="0" algn="l">
              <a:lnSpc>
                <a:spcPct val="100000"/>
              </a:lnSpc>
            </a:pPr>
            <a:r>
              <a:rPr lang="en-US" sz="1400" b="0" i="0" u="none" strike="noStrike">
                <a:solidFill>
                  <a:srgbClr val="000000"/>
                </a:solidFill>
              </a:rPr>
              <a:t>The ListeningRecord acts as a junction table, linking users to the tracks they interact with. This structure allows for powerful aggregation and analysis to generate user insights.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is organized into logical modules. The Auth module handles security, while Tracks and Listening manage the core data. The Insights and Analytics modules are where the value is added, providing personalized and global analysis. For example, a GET request to the similar tracks endpoint returns a list of songs ranked by their similarity score, as shown in the example.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explains the core logic behind the platform's intelligence. Similarity is calculated using cosine similarity, a well-known and interpretable mathematical method, ensuring transparency. User insights are generated by aggregating their listening history to create a clear profile of their preferences. A key design choice was to avoid complex AI models, making the system's decisions explainable and fast.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make the API tangible, I developed a product-oriented frontend. Users can register, log in, browse tracks, and save their favorites. Most importantly, they can visit the Insights page to see their personalized music profile and recommendations. This frontend proves the API's functionality and usability beyond just raw data endpoints.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 ensured the quality and robustness of the project through several measures. I performed thorough manual testing, implemented descriptive error handling, and maintained a clean version control history. I also want to be transparent about my use of GenAI, which served as a tool for assistance but did not replace my own understanding and work on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conclusion, HarmonySphere successfully achieves its objectives, providing a functional, secure, and insightful music platform. While there are limitations, such as the manual Spotify integration and room for improved testing, the project provides a solid foundation. For the future, I would focus on enhancing security, automating data import, and deploying the application to the cloud. Thank you for your attention. I am now ready to answer any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3.jpeg"/><Relationship Id="rId7"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4.svg"/><Relationship Id="rId4" Type="http://schemas.openxmlformats.org/officeDocument/2006/relationships/image" Target="../media/image23.svg"/></Relationships>
</file>

<file path=ppt/slides/_rels/slide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3.jpeg"/><Relationship Id="rId7"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3.jpeg"/><Relationship Id="rId7" Type="http://schemas.openxmlformats.org/officeDocument/2006/relationships/image" Target="../media/image33.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jpeg"/></Relationships>
</file>

<file path=ppt/slides/_rels/slide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4.svg"/><Relationship Id="rId7" Type="http://schemas.openxmlformats.org/officeDocument/2006/relationships/image" Target="../media/image37.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6.svg"/><Relationship Id="rId11" Type="http://schemas.openxmlformats.org/officeDocument/2006/relationships/image" Target="../media/image41.jpeg"/><Relationship Id="rId5" Type="http://schemas.openxmlformats.org/officeDocument/2006/relationships/image" Target="../media/image26.svg"/><Relationship Id="rId10" Type="http://schemas.openxmlformats.org/officeDocument/2006/relationships/image" Target="../media/image40.svg"/><Relationship Id="rId4" Type="http://schemas.openxmlformats.org/officeDocument/2006/relationships/image" Target="../media/image35.svg"/><Relationship Id="rId9" Type="http://schemas.openxmlformats.org/officeDocument/2006/relationships/image" Target="../media/image39.svg"/></Relationships>
</file>

<file path=ppt/slides/_rels/slide9.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65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333333"/>
                </a:solidFill>
                <a:latin typeface="Poppins"/>
                <a:ea typeface="Poppins"/>
                <a:cs typeface="Poppins"/>
                <a:sym typeface="Poppins"/>
              </a:rPr>
              <a:t>HarmonySphere API</a:t>
            </a:r>
            <a:endParaRPr lang="en-US" sz="1100"/>
          </a:p>
        </p:txBody>
      </p:sp>
      <p:sp>
        <p:nvSpPr>
          <p:cNvPr id="3" name="AutoShape 3"/>
          <p:cNvSpPr/>
          <p:nvPr/>
        </p:nvSpPr>
        <p:spPr>
          <a:xfrm>
            <a:off x="0" y="2667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0" i="0" u="none" strike="noStrike" spc="200">
                <a:solidFill>
                  <a:srgbClr val="009688"/>
                </a:solidFill>
                <a:latin typeface="Poppins"/>
                <a:ea typeface="Poppins"/>
                <a:cs typeface="Poppins"/>
                <a:sym typeface="Poppins"/>
              </a:rPr>
              <a:t>A Music Feature &amp; Insights Platform</a:t>
            </a:r>
            <a:endParaRPr lang="en-US" sz="1100"/>
          </a:p>
        </p:txBody>
      </p:sp>
      <p:sp>
        <p:nvSpPr>
          <p:cNvPr id="4" name="AutoShape 4"/>
          <p:cNvSpPr/>
          <p:nvPr/>
        </p:nvSpPr>
        <p:spPr>
          <a:xfrm>
            <a:off x="0" y="355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Poppins"/>
                <a:ea typeface="Poppins"/>
                <a:cs typeface="Poppins"/>
                <a:sym typeface="Poppins"/>
              </a:rPr>
              <a:t>WEB SERVICES AND WEB DATA – COURSEWORK 1 ORAL PRESENTATION</a:t>
            </a:r>
            <a:endParaRPr lang="en-US" sz="1100"/>
          </a:p>
        </p:txBody>
      </p:sp>
      <p:sp>
        <p:nvSpPr>
          <p:cNvPr id="5" name="AutoShape 5"/>
          <p:cNvSpPr/>
          <p:nvPr/>
        </p:nvSpPr>
        <p:spPr>
          <a:xfrm>
            <a:off x="2286000" y="4572000"/>
            <a:ext cx="3429000" cy="635000"/>
          </a:xfrm>
          <a:prstGeom prst="roundRect">
            <a:avLst>
              <a:gd name="adj" fmla="val 16000"/>
            </a:avLst>
          </a:prstGeom>
          <a:solidFill>
            <a:srgbClr val="F0F0F0">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76500" y="4737100"/>
            <a:ext cx="304800" cy="304800"/>
          </a:xfrm>
          <a:prstGeom prst="rect">
            <a:avLst/>
          </a:prstGeom>
        </p:spPr>
      </p:pic>
      <p:sp>
        <p:nvSpPr>
          <p:cNvPr id="7" name="AutoShape 7"/>
          <p:cNvSpPr/>
          <p:nvPr/>
        </p:nvSpPr>
        <p:spPr>
          <a:xfrm>
            <a:off x="2921000" y="4699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009688"/>
                </a:solidFill>
                <a:latin typeface="Poppins"/>
                <a:ea typeface="Poppins"/>
                <a:cs typeface="Poppins"/>
                <a:sym typeface="Poppins"/>
              </a:rPr>
              <a:t>AUTHOR:</a:t>
            </a:r>
            <a:r>
              <a:rPr lang="en-US" sz="1200" b="0" i="0" u="none" strike="noStrike" dirty="0">
                <a:solidFill>
                  <a:srgbClr val="333333"/>
                </a:solidFill>
                <a:latin typeface="Poppins"/>
                <a:ea typeface="Poppins"/>
                <a:cs typeface="Poppins"/>
                <a:sym typeface="Poppins"/>
              </a:rPr>
              <a:t>[Yi Fanyu]</a:t>
            </a:r>
            <a:endParaRPr lang="en-US" sz="1100" dirty="0"/>
          </a:p>
        </p:txBody>
      </p:sp>
      <p:sp>
        <p:nvSpPr>
          <p:cNvPr id="8" name="AutoShape 8"/>
          <p:cNvSpPr/>
          <p:nvPr/>
        </p:nvSpPr>
        <p:spPr>
          <a:xfrm>
            <a:off x="6477000" y="4572000"/>
            <a:ext cx="3429000" cy="635000"/>
          </a:xfrm>
          <a:prstGeom prst="roundRect">
            <a:avLst>
              <a:gd name="adj" fmla="val 16000"/>
            </a:avLst>
          </a:prstGeom>
          <a:solidFill>
            <a:srgbClr val="F0F0F0">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4737100"/>
            <a:ext cx="304800" cy="304800"/>
          </a:xfrm>
          <a:prstGeom prst="rect">
            <a:avLst/>
          </a:prstGeom>
        </p:spPr>
      </p:pic>
      <p:sp>
        <p:nvSpPr>
          <p:cNvPr id="10" name="AutoShape 10"/>
          <p:cNvSpPr/>
          <p:nvPr/>
        </p:nvSpPr>
        <p:spPr>
          <a:xfrm>
            <a:off x="7112000" y="4699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9688"/>
                </a:solidFill>
                <a:latin typeface="Poppins"/>
                <a:ea typeface="Poppins"/>
                <a:cs typeface="Poppins"/>
                <a:sym typeface="Poppins"/>
              </a:rPr>
              <a:t>DATE:</a:t>
            </a:r>
            <a:r>
              <a:rPr lang="en-US" sz="1200" b="0" i="0" u="none" strike="noStrike">
                <a:solidFill>
                  <a:srgbClr val="333333"/>
                </a:solidFill>
                <a:latin typeface="Poppins"/>
                <a:ea typeface="Poppins"/>
                <a:cs typeface="Poppins"/>
                <a:sym typeface="Poppins"/>
              </a:rPr>
              <a:t>2026-04-21</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AFC">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329"/>
                </a:solidFill>
                <a:latin typeface="Poppins"/>
                <a:ea typeface="Poppins"/>
                <a:cs typeface="Poppins"/>
                <a:sym typeface="Poppins"/>
              </a:rPr>
              <a:t>Problem &amp; Objectives</a:t>
            </a:r>
            <a:endParaRPr lang="en-US" sz="1100"/>
          </a:p>
        </p:txBody>
      </p:sp>
      <p:sp>
        <p:nvSpPr>
          <p:cNvPr id="4" name="AutoShape 4"/>
          <p:cNvSpPr/>
          <p:nvPr/>
        </p:nvSpPr>
        <p:spPr>
          <a:xfrm>
            <a:off x="762000" y="1397000"/>
            <a:ext cx="5207000" cy="1270000"/>
          </a:xfrm>
          <a:prstGeom prst="roundRect">
            <a:avLst>
              <a:gd name="adj" fmla="val 12000"/>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1016000" y="1524000"/>
            <a:ext cx="469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563EB"/>
                </a:solidFill>
                <a:latin typeface="Poppins"/>
                <a:ea typeface="Poppins"/>
                <a:cs typeface="Poppins"/>
                <a:sym typeface="Poppins"/>
              </a:rPr>
              <a:t>PROBLEM STATEMENT</a:t>
            </a:r>
            <a:endParaRPr lang="en-US" sz="1100"/>
          </a:p>
        </p:txBody>
      </p:sp>
      <p:sp>
        <p:nvSpPr>
          <p:cNvPr id="6" name="AutoShape 6"/>
          <p:cNvSpPr/>
          <p:nvPr/>
        </p:nvSpPr>
        <p:spPr>
          <a:xfrm>
            <a:off x="1016000" y="1905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475569"/>
                </a:solidFill>
                <a:latin typeface="Poppins"/>
                <a:ea typeface="Poppins"/>
                <a:cs typeface="Poppins"/>
                <a:sym typeface="Poppins"/>
              </a:rPr>
              <a:t>Traditional music APIs often focus solely on metadata CRUD operations, lacking deeper, interpretable analysis of music features and user behavior.</a:t>
            </a:r>
            <a:endParaRPr lang="en-US" sz="1100"/>
          </a:p>
        </p:txBody>
      </p:sp>
      <p:sp>
        <p:nvSpPr>
          <p:cNvPr id="7" name="AutoShape 7"/>
          <p:cNvSpPr/>
          <p:nvPr/>
        </p:nvSpPr>
        <p:spPr>
          <a:xfrm>
            <a:off x="762000" y="2921000"/>
            <a:ext cx="5207000" cy="2540000"/>
          </a:xfrm>
          <a:prstGeom prst="roundRect">
            <a:avLst>
              <a:gd name="adj" fmla="val 6000"/>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1016000" y="3048000"/>
            <a:ext cx="469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563EB"/>
                </a:solidFill>
                <a:latin typeface="Poppins"/>
                <a:ea typeface="Poppins"/>
                <a:cs typeface="Poppins"/>
                <a:sym typeface="Poppins"/>
              </a:rPr>
              <a:t>PROJECT OBJECTIVES</a:t>
            </a:r>
            <a:endParaRPr lang="en-US" sz="1100"/>
          </a:p>
        </p:txBody>
      </p:sp>
      <p:sp>
        <p:nvSpPr>
          <p:cNvPr id="9" name="AutoShape 9"/>
          <p:cNvSpPr/>
          <p:nvPr/>
        </p:nvSpPr>
        <p:spPr>
          <a:xfrm>
            <a:off x="1016000" y="3492500"/>
            <a:ext cx="4699000" cy="431800"/>
          </a:xfrm>
          <a:prstGeom prst="roundRect">
            <a:avLst>
              <a:gd name="adj" fmla="val 23529"/>
            </a:avLst>
          </a:prstGeom>
          <a:solidFill>
            <a:srgbClr val="F1F5F9">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3556000"/>
            <a:ext cx="304800" cy="304800"/>
          </a:xfrm>
          <a:prstGeom prst="rect">
            <a:avLst/>
          </a:prstGeom>
        </p:spPr>
      </p:pic>
      <p:sp>
        <p:nvSpPr>
          <p:cNvPr id="11" name="AutoShape 11"/>
          <p:cNvSpPr/>
          <p:nvPr/>
        </p:nvSpPr>
        <p:spPr>
          <a:xfrm>
            <a:off x="1587500" y="3556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F2329"/>
                </a:solidFill>
                <a:latin typeface="Poppins"/>
                <a:ea typeface="Poppins"/>
                <a:cs typeface="Poppins"/>
                <a:sym typeface="Poppins"/>
              </a:rPr>
              <a:t>Feature-Driven API:</a:t>
            </a:r>
            <a:r>
              <a:rPr lang="en-US" sz="1000" b="0" i="0" u="none" strike="noStrike">
                <a:solidFill>
                  <a:srgbClr val="475569"/>
                </a:solidFill>
                <a:latin typeface="Poppins"/>
                <a:ea typeface="Poppins"/>
                <a:cs typeface="Poppins"/>
                <a:sym typeface="Poppins"/>
              </a:rPr>
              <a:t>Centered around intrinsic music features (energy, danceability).</a:t>
            </a:r>
            <a:endParaRPr lang="en-US" sz="1100"/>
          </a:p>
        </p:txBody>
      </p:sp>
      <p:sp>
        <p:nvSpPr>
          <p:cNvPr id="12" name="AutoShape 12"/>
          <p:cNvSpPr/>
          <p:nvPr/>
        </p:nvSpPr>
        <p:spPr>
          <a:xfrm>
            <a:off x="1016000" y="4064000"/>
            <a:ext cx="4699000" cy="431800"/>
          </a:xfrm>
          <a:prstGeom prst="roundRect">
            <a:avLst>
              <a:gd name="adj" fmla="val 23529"/>
            </a:avLst>
          </a:prstGeom>
          <a:solidFill>
            <a:srgbClr val="F1F5F9">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4127500"/>
            <a:ext cx="304800" cy="304800"/>
          </a:xfrm>
          <a:prstGeom prst="rect">
            <a:avLst/>
          </a:prstGeom>
        </p:spPr>
      </p:pic>
      <p:sp>
        <p:nvSpPr>
          <p:cNvPr id="14" name="AutoShape 14"/>
          <p:cNvSpPr/>
          <p:nvPr/>
        </p:nvSpPr>
        <p:spPr>
          <a:xfrm>
            <a:off x="1587500" y="4127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F2329"/>
                </a:solidFill>
                <a:latin typeface="Poppins"/>
                <a:ea typeface="Poppins"/>
                <a:cs typeface="Poppins"/>
                <a:sym typeface="Poppins"/>
              </a:rPr>
              <a:t>Behavior Tracking:</a:t>
            </a:r>
            <a:r>
              <a:rPr lang="en-US" sz="1000" b="0" i="0" u="none" strike="noStrike">
                <a:solidFill>
                  <a:srgbClr val="475569"/>
                </a:solidFill>
                <a:latin typeface="Poppins"/>
                <a:ea typeface="Poppins"/>
                <a:cs typeface="Poppins"/>
                <a:sym typeface="Poppins"/>
              </a:rPr>
              <a:t>Enable tracking of user interactions (listen, like, skip).</a:t>
            </a:r>
            <a:endParaRPr lang="en-US" sz="1100"/>
          </a:p>
        </p:txBody>
      </p:sp>
      <p:sp>
        <p:nvSpPr>
          <p:cNvPr id="15" name="AutoShape 15"/>
          <p:cNvSpPr/>
          <p:nvPr/>
        </p:nvSpPr>
        <p:spPr>
          <a:xfrm>
            <a:off x="1016000" y="4635500"/>
            <a:ext cx="4699000" cy="431800"/>
          </a:xfrm>
          <a:prstGeom prst="roundRect">
            <a:avLst>
              <a:gd name="adj" fmla="val 23529"/>
            </a:avLst>
          </a:prstGeom>
          <a:solidFill>
            <a:srgbClr val="F1F5F9">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4699000"/>
            <a:ext cx="304800" cy="304800"/>
          </a:xfrm>
          <a:prstGeom prst="rect">
            <a:avLst/>
          </a:prstGeom>
        </p:spPr>
      </p:pic>
      <p:sp>
        <p:nvSpPr>
          <p:cNvPr id="17" name="AutoShape 17"/>
          <p:cNvSpPr/>
          <p:nvPr/>
        </p:nvSpPr>
        <p:spPr>
          <a:xfrm>
            <a:off x="1587500" y="4699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F2329"/>
                </a:solidFill>
                <a:latin typeface="Poppins"/>
                <a:ea typeface="Poppins"/>
                <a:cs typeface="Poppins"/>
                <a:sym typeface="Poppins"/>
              </a:rPr>
              <a:t>Explainable Recs:</a:t>
            </a:r>
            <a:r>
              <a:rPr lang="en-US" sz="1000" b="0" i="0" u="none" strike="noStrike">
                <a:solidFill>
                  <a:srgbClr val="475569"/>
                </a:solidFill>
                <a:latin typeface="Poppins"/>
                <a:ea typeface="Poppins"/>
                <a:cs typeface="Poppins"/>
                <a:sym typeface="Poppins"/>
              </a:rPr>
              <a:t>Transparent engine based on Cosine Similarity.</a:t>
            </a:r>
            <a:endParaRPr lang="en-US" sz="1100"/>
          </a:p>
        </p:txBody>
      </p:sp>
      <p:sp>
        <p:nvSpPr>
          <p:cNvPr id="18" name="AutoShape 18"/>
          <p:cNvSpPr/>
          <p:nvPr/>
        </p:nvSpPr>
        <p:spPr>
          <a:xfrm>
            <a:off x="1016000" y="5207000"/>
            <a:ext cx="4699000" cy="431800"/>
          </a:xfrm>
          <a:prstGeom prst="roundRect">
            <a:avLst>
              <a:gd name="adj" fmla="val 23529"/>
            </a:avLst>
          </a:prstGeom>
          <a:solidFill>
            <a:srgbClr val="F1F5F9">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5270500"/>
            <a:ext cx="304800" cy="304800"/>
          </a:xfrm>
          <a:prstGeom prst="rect">
            <a:avLst/>
          </a:prstGeom>
        </p:spPr>
      </p:pic>
      <p:sp>
        <p:nvSpPr>
          <p:cNvPr id="20" name="AutoShape 20"/>
          <p:cNvSpPr/>
          <p:nvPr/>
        </p:nvSpPr>
        <p:spPr>
          <a:xfrm>
            <a:off x="1587500" y="5270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F2329"/>
                </a:solidFill>
                <a:latin typeface="Poppins"/>
                <a:ea typeface="Poppins"/>
                <a:cs typeface="Poppins"/>
                <a:sym typeface="Poppins"/>
              </a:rPr>
              <a:t>Preference Profiling:</a:t>
            </a:r>
            <a:r>
              <a:rPr lang="en-US" sz="1000" b="0" i="0" u="none" strike="noStrike">
                <a:solidFill>
                  <a:srgbClr val="475569"/>
                </a:solidFill>
                <a:latin typeface="Poppins"/>
                <a:ea typeface="Poppins"/>
                <a:cs typeface="Poppins"/>
                <a:sym typeface="Poppins"/>
              </a:rPr>
              <a:t>Generate user profiles with distribution analysis.</a:t>
            </a:r>
            <a:endParaRPr lang="en-US" sz="1100"/>
          </a:p>
        </p:txBody>
      </p:sp>
      <p:pic>
        <p:nvPicPr>
          <p:cNvPr id="21" name="Picture 21"/>
          <p:cNvPicPr>
            <a:picLocks noChangeAspect="1"/>
          </p:cNvPicPr>
          <p:nvPr/>
        </p:nvPicPr>
        <p:blipFill>
          <a:blip r:embed="rId8"/>
          <a:srcRect t="13143" b="13143"/>
          <a:stretch>
            <a:fillRect/>
          </a:stretch>
        </p:blipFill>
        <p:spPr>
          <a:xfrm>
            <a:off x="6223000" y="1397000"/>
            <a:ext cx="5207000" cy="2159000"/>
          </a:xfrm>
          <a:prstGeom prst="roundRect">
            <a:avLst>
              <a:gd name="adj" fmla="val 7058"/>
            </a:avLst>
          </a:prstGeom>
          <a:noFill/>
          <a:ln w="12700" cap="flat" cmpd="sng">
            <a:solidFill>
              <a:srgbClr val="E0E0E0">
                <a:alpha val="100000"/>
              </a:srgbClr>
            </a:solidFill>
            <a:prstDash val="solid"/>
            <a:round/>
          </a:ln>
          <a:effectLst>
            <a:outerShdw blurRad="444500" dist="190500" dir="2700000" algn="tl" rotWithShape="0">
              <a:srgbClr val="000000">
                <a:alpha val="25000"/>
              </a:srgbClr>
            </a:outerShdw>
          </a:effectLst>
        </p:spPr>
      </p:pic>
      <p:sp>
        <p:nvSpPr>
          <p:cNvPr id="22" name="AutoShape 22"/>
          <p:cNvSpPr/>
          <p:nvPr/>
        </p:nvSpPr>
        <p:spPr>
          <a:xfrm>
            <a:off x="6223000" y="3683000"/>
            <a:ext cx="5207000" cy="2159000"/>
          </a:xfrm>
          <a:prstGeom prst="roundRect">
            <a:avLst>
              <a:gd name="adj" fmla="val 7058"/>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23" name="AutoShape 23"/>
          <p:cNvSpPr/>
          <p:nvPr/>
        </p:nvSpPr>
        <p:spPr>
          <a:xfrm>
            <a:off x="6477000" y="3810000"/>
            <a:ext cx="469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563EB"/>
                </a:solidFill>
                <a:latin typeface="Poppins"/>
                <a:ea typeface="Poppins"/>
                <a:cs typeface="Poppins"/>
                <a:sym typeface="Poppins"/>
              </a:rPr>
              <a:t>TRADITIONAL VS. HARMONYSPHERE</a:t>
            </a:r>
            <a:endParaRPr lang="en-US" sz="1100"/>
          </a:p>
        </p:txBody>
      </p:sp>
      <p:sp>
        <p:nvSpPr>
          <p:cNvPr id="24" name="AutoShape 24"/>
          <p:cNvSpPr/>
          <p:nvPr/>
        </p:nvSpPr>
        <p:spPr>
          <a:xfrm>
            <a:off x="6477000" y="4254500"/>
            <a:ext cx="4699000" cy="457200"/>
          </a:xfrm>
          <a:prstGeom prst="roundRect">
            <a:avLst>
              <a:gd name="adj" fmla="val 22222"/>
            </a:avLst>
          </a:prstGeom>
          <a:solidFill>
            <a:srgbClr val="F1F5F9">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5" name="AutoShape 25"/>
          <p:cNvSpPr/>
          <p:nvPr/>
        </p:nvSpPr>
        <p:spPr>
          <a:xfrm>
            <a:off x="6604000" y="4330700"/>
            <a:ext cx="101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F2329"/>
                </a:solidFill>
                <a:latin typeface="Poppins"/>
                <a:ea typeface="Poppins"/>
                <a:cs typeface="Poppins"/>
                <a:sym typeface="Poppins"/>
              </a:rPr>
              <a:t>Core Focus</a:t>
            </a:r>
            <a:endParaRPr lang="en-US" sz="1100"/>
          </a:p>
        </p:txBody>
      </p:sp>
      <p:sp>
        <p:nvSpPr>
          <p:cNvPr id="26" name="AutoShape 26"/>
          <p:cNvSpPr/>
          <p:nvPr/>
        </p:nvSpPr>
        <p:spPr>
          <a:xfrm>
            <a:off x="7620000" y="4356100"/>
            <a:ext cx="114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475569"/>
                </a:solidFill>
                <a:latin typeface="Poppins"/>
                <a:ea typeface="Poppins"/>
                <a:cs typeface="Poppins"/>
                <a:sym typeface="Poppins"/>
              </a:rPr>
              <a:t>Metadata CRUD</a:t>
            </a:r>
            <a:endParaRPr lang="en-US" sz="1100"/>
          </a:p>
        </p:txBody>
      </p:sp>
      <p:sp>
        <p:nvSpPr>
          <p:cNvPr id="27" name="AutoShape 27"/>
          <p:cNvSpPr/>
          <p:nvPr/>
        </p:nvSpPr>
        <p:spPr>
          <a:xfrm>
            <a:off x="8826500" y="4330700"/>
            <a:ext cx="2095500" cy="304800"/>
          </a:xfrm>
          <a:prstGeom prst="roundRect">
            <a:avLst>
              <a:gd name="adj" fmla="val 25000"/>
            </a:avLst>
          </a:prstGeom>
          <a:solidFill>
            <a:srgbClr val="2563EB">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28" name="AutoShape 28"/>
          <p:cNvSpPr/>
          <p:nvPr/>
        </p:nvSpPr>
        <p:spPr>
          <a:xfrm>
            <a:off x="8890000" y="4356100"/>
            <a:ext cx="1968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2563EB"/>
                </a:solidFill>
                <a:latin typeface="Poppins"/>
                <a:ea typeface="Poppins"/>
                <a:cs typeface="Poppins"/>
                <a:sym typeface="Poppins"/>
              </a:rPr>
              <a:t>Feature Analysis &amp; Insights</a:t>
            </a:r>
            <a:endParaRPr lang="en-US" sz="1100"/>
          </a:p>
        </p:txBody>
      </p:sp>
      <p:sp>
        <p:nvSpPr>
          <p:cNvPr id="29" name="AutoShape 29"/>
          <p:cNvSpPr/>
          <p:nvPr/>
        </p:nvSpPr>
        <p:spPr>
          <a:xfrm>
            <a:off x="6477000" y="4826000"/>
            <a:ext cx="4699000" cy="457200"/>
          </a:xfrm>
          <a:prstGeom prst="roundRect">
            <a:avLst>
              <a:gd name="adj" fmla="val 22222"/>
            </a:avLst>
          </a:prstGeom>
          <a:solidFill>
            <a:srgbClr val="F1F5F9">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0" name="AutoShape 30"/>
          <p:cNvSpPr/>
          <p:nvPr/>
        </p:nvSpPr>
        <p:spPr>
          <a:xfrm>
            <a:off x="6604000" y="4902200"/>
            <a:ext cx="101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F2329"/>
                </a:solidFill>
                <a:latin typeface="Poppins"/>
                <a:ea typeface="Poppins"/>
                <a:cs typeface="Poppins"/>
                <a:sym typeface="Poppins"/>
              </a:rPr>
              <a:t>Rec Engine</a:t>
            </a:r>
            <a:endParaRPr lang="en-US" sz="1100"/>
          </a:p>
        </p:txBody>
      </p:sp>
      <p:sp>
        <p:nvSpPr>
          <p:cNvPr id="31" name="AutoShape 31"/>
          <p:cNvSpPr/>
          <p:nvPr/>
        </p:nvSpPr>
        <p:spPr>
          <a:xfrm>
            <a:off x="7620000" y="4927600"/>
            <a:ext cx="114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475569"/>
                </a:solidFill>
                <a:latin typeface="Poppins"/>
                <a:ea typeface="Poppins"/>
                <a:cs typeface="Poppins"/>
                <a:sym typeface="Poppins"/>
              </a:rPr>
              <a:t>Black-Box Model</a:t>
            </a:r>
            <a:endParaRPr lang="en-US" sz="1100"/>
          </a:p>
        </p:txBody>
      </p:sp>
      <p:sp>
        <p:nvSpPr>
          <p:cNvPr id="32" name="AutoShape 32"/>
          <p:cNvSpPr/>
          <p:nvPr/>
        </p:nvSpPr>
        <p:spPr>
          <a:xfrm>
            <a:off x="8826500" y="4902200"/>
            <a:ext cx="2095500" cy="304800"/>
          </a:xfrm>
          <a:prstGeom prst="roundRect">
            <a:avLst>
              <a:gd name="adj" fmla="val 25000"/>
            </a:avLst>
          </a:prstGeom>
          <a:solidFill>
            <a:srgbClr val="2563EB">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33" name="AutoShape 33"/>
          <p:cNvSpPr/>
          <p:nvPr/>
        </p:nvSpPr>
        <p:spPr>
          <a:xfrm>
            <a:off x="8890000" y="4927600"/>
            <a:ext cx="1968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2563EB"/>
                </a:solidFill>
                <a:latin typeface="Poppins"/>
                <a:ea typeface="Poppins"/>
                <a:cs typeface="Poppins"/>
                <a:sym typeface="Poppins"/>
              </a:rPr>
              <a:t>Transparent Cosine Sim</a:t>
            </a:r>
            <a:endParaRPr lang="en-US" sz="1100"/>
          </a:p>
        </p:txBody>
      </p:sp>
      <p:sp>
        <p:nvSpPr>
          <p:cNvPr id="34" name="AutoShape 34"/>
          <p:cNvSpPr/>
          <p:nvPr/>
        </p:nvSpPr>
        <p:spPr>
          <a:xfrm>
            <a:off x="6477000" y="5397500"/>
            <a:ext cx="4699000" cy="457200"/>
          </a:xfrm>
          <a:prstGeom prst="roundRect">
            <a:avLst>
              <a:gd name="adj" fmla="val 22222"/>
            </a:avLst>
          </a:prstGeom>
          <a:solidFill>
            <a:srgbClr val="F1F5F9">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5" name="AutoShape 35"/>
          <p:cNvSpPr/>
          <p:nvPr/>
        </p:nvSpPr>
        <p:spPr>
          <a:xfrm>
            <a:off x="6604000" y="5473700"/>
            <a:ext cx="101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F2329"/>
                </a:solidFill>
                <a:latin typeface="Poppins"/>
                <a:ea typeface="Poppins"/>
                <a:cs typeface="Poppins"/>
                <a:sym typeface="Poppins"/>
              </a:rPr>
              <a:t>Output</a:t>
            </a:r>
            <a:endParaRPr lang="en-US" sz="1100"/>
          </a:p>
        </p:txBody>
      </p:sp>
      <p:sp>
        <p:nvSpPr>
          <p:cNvPr id="36" name="AutoShape 36"/>
          <p:cNvSpPr/>
          <p:nvPr/>
        </p:nvSpPr>
        <p:spPr>
          <a:xfrm>
            <a:off x="7620000" y="5499100"/>
            <a:ext cx="1143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475569"/>
                </a:solidFill>
                <a:latin typeface="Poppins"/>
                <a:ea typeface="Poppins"/>
                <a:cs typeface="Poppins"/>
                <a:sym typeface="Poppins"/>
              </a:rPr>
              <a:t>Raw JSON Data</a:t>
            </a:r>
            <a:endParaRPr lang="en-US" sz="1100"/>
          </a:p>
        </p:txBody>
      </p:sp>
      <p:sp>
        <p:nvSpPr>
          <p:cNvPr id="37" name="AutoShape 37"/>
          <p:cNvSpPr/>
          <p:nvPr/>
        </p:nvSpPr>
        <p:spPr>
          <a:xfrm>
            <a:off x="8826500" y="5473700"/>
            <a:ext cx="2095500" cy="304800"/>
          </a:xfrm>
          <a:prstGeom prst="roundRect">
            <a:avLst>
              <a:gd name="adj" fmla="val 25000"/>
            </a:avLst>
          </a:prstGeom>
          <a:solidFill>
            <a:srgbClr val="2563EB">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38" name="AutoShape 38"/>
          <p:cNvSpPr/>
          <p:nvPr/>
        </p:nvSpPr>
        <p:spPr>
          <a:xfrm>
            <a:off x="8890000" y="5499100"/>
            <a:ext cx="1968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2563EB"/>
                </a:solidFill>
                <a:latin typeface="Poppins"/>
                <a:ea typeface="Poppins"/>
                <a:cs typeface="Poppins"/>
                <a:sym typeface="Poppins"/>
              </a:rPr>
              <a:t>Production-Ready UI</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9688"/>
                </a:solidFill>
                <a:latin typeface="Poppins"/>
                <a:ea typeface="Poppins"/>
                <a:cs typeface="Poppins"/>
                <a:sym typeface="Poppins"/>
              </a:rPr>
              <a:t>Coursework Requirement Mapping</a:t>
            </a:r>
            <a:endParaRPr lang="en-US" sz="1100"/>
          </a:p>
        </p:txBody>
      </p:sp>
      <p:sp>
        <p:nvSpPr>
          <p:cNvPr id="3" name="AutoShape 3"/>
          <p:cNvSpPr/>
          <p:nvPr/>
        </p:nvSpPr>
        <p:spPr>
          <a:xfrm>
            <a:off x="762000" y="1397000"/>
            <a:ext cx="5207000" cy="1397000"/>
          </a:xfrm>
          <a:prstGeom prst="roundRect">
            <a:avLst>
              <a:gd name="adj" fmla="val 10909"/>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1651000"/>
            <a:ext cx="889000" cy="889000"/>
          </a:xfrm>
          <a:prstGeom prst="ellipse">
            <a:avLst/>
          </a:prstGeom>
          <a:solidFill>
            <a:srgbClr val="009688">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6500" y="1841500"/>
            <a:ext cx="508000" cy="508000"/>
          </a:xfrm>
          <a:prstGeom prst="rect">
            <a:avLst/>
          </a:prstGeom>
        </p:spPr>
      </p:pic>
      <p:sp>
        <p:nvSpPr>
          <p:cNvPr id="6" name="AutoShape 6"/>
          <p:cNvSpPr/>
          <p:nvPr/>
        </p:nvSpPr>
        <p:spPr>
          <a:xfrm>
            <a:off x="2159000" y="15240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9688"/>
                </a:solidFill>
                <a:latin typeface="Poppins"/>
                <a:ea typeface="Poppins"/>
                <a:cs typeface="Poppins"/>
                <a:sym typeface="Poppins"/>
              </a:rPr>
              <a:t>SQL Database + CRUD Operations</a:t>
            </a:r>
            <a:endParaRPr lang="en-US" sz="1100"/>
          </a:p>
        </p:txBody>
      </p:sp>
      <p:sp>
        <p:nvSpPr>
          <p:cNvPr id="7" name="AutoShape 7"/>
          <p:cNvSpPr/>
          <p:nvPr/>
        </p:nvSpPr>
        <p:spPr>
          <a:xfrm>
            <a:off x="2159000" y="1879600"/>
            <a:ext cx="3556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374151"/>
                </a:solidFill>
                <a:latin typeface="Poppins"/>
                <a:ea typeface="Poppins"/>
                <a:cs typeface="Poppins"/>
                <a:sym typeface="Poppins"/>
              </a:rPr>
              <a:t>SQLite db with `ListeningRecord` model supporting full CRUD via SQLAlchemy ORM.</a:t>
            </a:r>
            <a:endParaRPr lang="en-US" sz="1100"/>
          </a:p>
        </p:txBody>
      </p:sp>
      <p:sp>
        <p:nvSpPr>
          <p:cNvPr id="8" name="AutoShape 8"/>
          <p:cNvSpPr/>
          <p:nvPr/>
        </p:nvSpPr>
        <p:spPr>
          <a:xfrm>
            <a:off x="2159000" y="23876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B7280"/>
                </a:solidFill>
                <a:latin typeface="Poppins"/>
                <a:ea typeface="Poppins"/>
                <a:cs typeface="Poppins"/>
                <a:sym typeface="Poppins"/>
              </a:rPr>
              <a:t>EVIDENCE: Code in database.py, models.py &amp; routers/listening.py</a:t>
            </a:r>
            <a:endParaRPr lang="en-US" sz="1100"/>
          </a:p>
        </p:txBody>
      </p:sp>
      <p:sp>
        <p:nvSpPr>
          <p:cNvPr id="9" name="AutoShape 9"/>
          <p:cNvSpPr/>
          <p:nvPr/>
        </p:nvSpPr>
        <p:spPr>
          <a:xfrm>
            <a:off x="762000" y="2984500"/>
            <a:ext cx="5207000" cy="1397000"/>
          </a:xfrm>
          <a:prstGeom prst="roundRect">
            <a:avLst>
              <a:gd name="adj" fmla="val 10909"/>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1016000" y="3238500"/>
            <a:ext cx="889000" cy="889000"/>
          </a:xfrm>
          <a:prstGeom prst="ellipse">
            <a:avLst/>
          </a:prstGeom>
          <a:solidFill>
            <a:srgbClr val="009688">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429000"/>
            <a:ext cx="508000" cy="508000"/>
          </a:xfrm>
          <a:prstGeom prst="rect">
            <a:avLst/>
          </a:prstGeom>
        </p:spPr>
      </p:pic>
      <p:sp>
        <p:nvSpPr>
          <p:cNvPr id="12" name="AutoShape 12"/>
          <p:cNvSpPr/>
          <p:nvPr/>
        </p:nvSpPr>
        <p:spPr>
          <a:xfrm>
            <a:off x="2159000" y="3111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9688"/>
                </a:solidFill>
                <a:latin typeface="Poppins"/>
                <a:ea typeface="Poppins"/>
                <a:cs typeface="Poppins"/>
                <a:sym typeface="Poppins"/>
              </a:rPr>
              <a:t>≥ 4 Functional API Endpoints</a:t>
            </a:r>
            <a:endParaRPr lang="en-US" sz="1100"/>
          </a:p>
        </p:txBody>
      </p:sp>
      <p:sp>
        <p:nvSpPr>
          <p:cNvPr id="13" name="AutoShape 13"/>
          <p:cNvSpPr/>
          <p:nvPr/>
        </p:nvSpPr>
        <p:spPr>
          <a:xfrm>
            <a:off x="2159000" y="3467100"/>
            <a:ext cx="3556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374151"/>
                </a:solidFill>
                <a:latin typeface="Poppins"/>
                <a:ea typeface="Poppins"/>
                <a:cs typeface="Poppins"/>
                <a:sym typeface="Poppins"/>
              </a:rPr>
              <a:t>Implemented 5 core groups: Auth, Tracks, Listening, Users &amp; Analytics for comprehensive coverage.</a:t>
            </a:r>
            <a:endParaRPr lang="en-US" sz="1100"/>
          </a:p>
        </p:txBody>
      </p:sp>
      <p:sp>
        <p:nvSpPr>
          <p:cNvPr id="14" name="AutoShape 14"/>
          <p:cNvSpPr/>
          <p:nvPr/>
        </p:nvSpPr>
        <p:spPr>
          <a:xfrm>
            <a:off x="762000" y="4572000"/>
            <a:ext cx="5207000" cy="1397000"/>
          </a:xfrm>
          <a:prstGeom prst="roundRect">
            <a:avLst>
              <a:gd name="adj" fmla="val 10909"/>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5" name="AutoShape 15"/>
          <p:cNvSpPr/>
          <p:nvPr/>
        </p:nvSpPr>
        <p:spPr>
          <a:xfrm>
            <a:off x="1016000" y="4826000"/>
            <a:ext cx="889000" cy="889000"/>
          </a:xfrm>
          <a:prstGeom prst="ellipse">
            <a:avLst/>
          </a:prstGeom>
          <a:solidFill>
            <a:srgbClr val="009688">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06500" y="5016500"/>
            <a:ext cx="508000" cy="508000"/>
          </a:xfrm>
          <a:prstGeom prst="rect">
            <a:avLst/>
          </a:prstGeom>
        </p:spPr>
      </p:pic>
      <p:sp>
        <p:nvSpPr>
          <p:cNvPr id="17" name="AutoShape 17"/>
          <p:cNvSpPr/>
          <p:nvPr/>
        </p:nvSpPr>
        <p:spPr>
          <a:xfrm>
            <a:off x="2159000" y="46990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9688"/>
                </a:solidFill>
                <a:latin typeface="Poppins"/>
                <a:ea typeface="Poppins"/>
                <a:cs typeface="Poppins"/>
                <a:sym typeface="Poppins"/>
              </a:rPr>
              <a:t>Structured JSON &amp; Status Codes</a:t>
            </a:r>
            <a:endParaRPr lang="en-US" sz="1100"/>
          </a:p>
        </p:txBody>
      </p:sp>
      <p:sp>
        <p:nvSpPr>
          <p:cNvPr id="18" name="AutoShape 18"/>
          <p:cNvSpPr/>
          <p:nvPr/>
        </p:nvSpPr>
        <p:spPr>
          <a:xfrm>
            <a:off x="2159000" y="5054600"/>
            <a:ext cx="3556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374151"/>
                </a:solidFill>
                <a:latin typeface="Poppins"/>
                <a:ea typeface="Poppins"/>
                <a:cs typeface="Poppins"/>
                <a:sym typeface="Poppins"/>
              </a:rPr>
              <a:t>All responses return valid JSON payloads with correct HTTP codes (200, 400, 401, 404, 500).</a:t>
            </a:r>
            <a:endParaRPr lang="en-US" sz="1100"/>
          </a:p>
        </p:txBody>
      </p:sp>
      <p:sp>
        <p:nvSpPr>
          <p:cNvPr id="19" name="AutoShape 19"/>
          <p:cNvSpPr/>
          <p:nvPr/>
        </p:nvSpPr>
        <p:spPr>
          <a:xfrm>
            <a:off x="2159000" y="55626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B7280"/>
                </a:solidFill>
                <a:latin typeface="Poppins"/>
                <a:ea typeface="Poppins"/>
                <a:cs typeface="Poppins"/>
                <a:sym typeface="Poppins"/>
              </a:rPr>
              <a:t>EVIDENCE: Live API testing &amp; Swagger response documentation</a:t>
            </a:r>
            <a:endParaRPr lang="en-US" sz="1100"/>
          </a:p>
        </p:txBody>
      </p:sp>
      <p:sp>
        <p:nvSpPr>
          <p:cNvPr id="20" name="AutoShape 20"/>
          <p:cNvSpPr/>
          <p:nvPr/>
        </p:nvSpPr>
        <p:spPr>
          <a:xfrm>
            <a:off x="6223000" y="1397000"/>
            <a:ext cx="5207000" cy="1397000"/>
          </a:xfrm>
          <a:prstGeom prst="roundRect">
            <a:avLst>
              <a:gd name="adj" fmla="val 10909"/>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21" name="AutoShape 21"/>
          <p:cNvSpPr/>
          <p:nvPr/>
        </p:nvSpPr>
        <p:spPr>
          <a:xfrm>
            <a:off x="6477000" y="1651000"/>
            <a:ext cx="889000" cy="889000"/>
          </a:xfrm>
          <a:prstGeom prst="ellipse">
            <a:avLst/>
          </a:prstGeom>
          <a:solidFill>
            <a:srgbClr val="009688">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1841500"/>
            <a:ext cx="508000" cy="508000"/>
          </a:xfrm>
          <a:prstGeom prst="rect">
            <a:avLst/>
          </a:prstGeom>
        </p:spPr>
      </p:pic>
      <p:sp>
        <p:nvSpPr>
          <p:cNvPr id="23" name="AutoShape 23"/>
          <p:cNvSpPr/>
          <p:nvPr/>
        </p:nvSpPr>
        <p:spPr>
          <a:xfrm>
            <a:off x="7620000" y="15240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9688"/>
                </a:solidFill>
                <a:latin typeface="Poppins"/>
                <a:ea typeface="Poppins"/>
                <a:cs typeface="Poppins"/>
                <a:sym typeface="Poppins"/>
              </a:rPr>
              <a:t>Comprehensive API Documentation</a:t>
            </a:r>
            <a:endParaRPr lang="en-US" sz="1100"/>
          </a:p>
        </p:txBody>
      </p:sp>
      <p:sp>
        <p:nvSpPr>
          <p:cNvPr id="24" name="AutoShape 24"/>
          <p:cNvSpPr/>
          <p:nvPr/>
        </p:nvSpPr>
        <p:spPr>
          <a:xfrm>
            <a:off x="7620000" y="1879600"/>
            <a:ext cx="3556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374151"/>
                </a:solidFill>
                <a:latin typeface="Poppins"/>
                <a:ea typeface="Poppins"/>
                <a:cs typeface="Poppins"/>
                <a:sym typeface="Poppins"/>
              </a:rPr>
              <a:t>Detailed Markdown docs (exportable to PDF) + interactive Swagger UI for real-time endpoint testing.</a:t>
            </a:r>
            <a:endParaRPr lang="en-US" sz="1100"/>
          </a:p>
        </p:txBody>
      </p:sp>
      <p:sp>
        <p:nvSpPr>
          <p:cNvPr id="25" name="AutoShape 25"/>
          <p:cNvSpPr/>
          <p:nvPr/>
        </p:nvSpPr>
        <p:spPr>
          <a:xfrm>
            <a:off x="7620000" y="23876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B7280"/>
                </a:solidFill>
                <a:latin typeface="Poppins"/>
                <a:ea typeface="Poppins"/>
                <a:cs typeface="Poppins"/>
                <a:sym typeface="Poppins"/>
              </a:rPr>
              <a:t>EVIDENCE: docs/API_Documentation.md &amp; /docs web endpoint</a:t>
            </a:r>
            <a:endParaRPr lang="en-US" sz="1100"/>
          </a:p>
        </p:txBody>
      </p:sp>
      <p:sp>
        <p:nvSpPr>
          <p:cNvPr id="26" name="AutoShape 26"/>
          <p:cNvSpPr/>
          <p:nvPr/>
        </p:nvSpPr>
        <p:spPr>
          <a:xfrm>
            <a:off x="6223000" y="2984500"/>
            <a:ext cx="5207000" cy="1397000"/>
          </a:xfrm>
          <a:prstGeom prst="roundRect">
            <a:avLst>
              <a:gd name="adj" fmla="val 10909"/>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27" name="AutoShape 27"/>
          <p:cNvSpPr/>
          <p:nvPr/>
        </p:nvSpPr>
        <p:spPr>
          <a:xfrm>
            <a:off x="6477000" y="3238500"/>
            <a:ext cx="889000" cy="889000"/>
          </a:xfrm>
          <a:prstGeom prst="ellipse">
            <a:avLst/>
          </a:prstGeom>
          <a:solidFill>
            <a:srgbClr val="009688">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3429000"/>
            <a:ext cx="508000" cy="508000"/>
          </a:xfrm>
          <a:prstGeom prst="rect">
            <a:avLst/>
          </a:prstGeom>
        </p:spPr>
      </p:pic>
      <p:sp>
        <p:nvSpPr>
          <p:cNvPr id="29" name="AutoShape 29"/>
          <p:cNvSpPr/>
          <p:nvPr/>
        </p:nvSpPr>
        <p:spPr>
          <a:xfrm>
            <a:off x="7620000" y="3111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9688"/>
                </a:solidFill>
                <a:latin typeface="Poppins"/>
                <a:ea typeface="Poppins"/>
                <a:cs typeface="Poppins"/>
                <a:sym typeface="Poppins"/>
              </a:rPr>
              <a:t>GitHub Version Control &amp; README</a:t>
            </a:r>
            <a:endParaRPr lang="en-US" sz="1100"/>
          </a:p>
        </p:txBody>
      </p:sp>
      <p:sp>
        <p:nvSpPr>
          <p:cNvPr id="30" name="AutoShape 30"/>
          <p:cNvSpPr/>
          <p:nvPr/>
        </p:nvSpPr>
        <p:spPr>
          <a:xfrm>
            <a:off x="7620000" y="3467100"/>
            <a:ext cx="3556000" cy="457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374151"/>
                </a:solidFill>
                <a:latin typeface="Poppins"/>
                <a:ea typeface="Poppins"/>
                <a:cs typeface="Poppins"/>
                <a:sym typeface="Poppins"/>
              </a:rPr>
              <a:t>Complete project history with atomic, meaningful commits and a detailed README with setup guide.</a:t>
            </a:r>
            <a:endParaRPr lang="en-US" sz="1100"/>
          </a:p>
        </p:txBody>
      </p:sp>
      <p:sp>
        <p:nvSpPr>
          <p:cNvPr id="31" name="AutoShape 31"/>
          <p:cNvSpPr/>
          <p:nvPr/>
        </p:nvSpPr>
        <p:spPr>
          <a:xfrm>
            <a:off x="7620000" y="39751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B7280"/>
                </a:solidFill>
                <a:latin typeface="Poppins"/>
                <a:ea typeface="Poppins"/>
                <a:cs typeface="Poppins"/>
                <a:sym typeface="Poppins"/>
              </a:rPr>
              <a:t>EVIDENCE: [Link to GitHub Repository] (Commit history &amp; README.md)</a:t>
            </a:r>
            <a:endParaRPr lang="en-US" sz="1100"/>
          </a:p>
        </p:txBody>
      </p:sp>
      <p:sp>
        <p:nvSpPr>
          <p:cNvPr id="32" name="AutoShape 32"/>
          <p:cNvSpPr/>
          <p:nvPr/>
        </p:nvSpPr>
        <p:spPr>
          <a:xfrm>
            <a:off x="6223000" y="4572000"/>
            <a:ext cx="5207000" cy="1397000"/>
          </a:xfrm>
          <a:prstGeom prst="roundRect">
            <a:avLst>
              <a:gd name="adj" fmla="val 10909"/>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33" name="AutoShape 33"/>
          <p:cNvSpPr/>
          <p:nvPr/>
        </p:nvSpPr>
        <p:spPr>
          <a:xfrm>
            <a:off x="6477000" y="4826000"/>
            <a:ext cx="889000" cy="889000"/>
          </a:xfrm>
          <a:prstGeom prst="ellipse">
            <a:avLst/>
          </a:prstGeom>
          <a:solidFill>
            <a:srgbClr val="009688">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34" name="Picture 3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5016500"/>
            <a:ext cx="508000" cy="508000"/>
          </a:xfrm>
          <a:prstGeom prst="rect">
            <a:avLst/>
          </a:prstGeom>
        </p:spPr>
      </p:pic>
      <p:sp>
        <p:nvSpPr>
          <p:cNvPr id="35" name="AutoShape 35"/>
          <p:cNvSpPr/>
          <p:nvPr/>
        </p:nvSpPr>
        <p:spPr>
          <a:xfrm>
            <a:off x="7620000" y="46990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9688"/>
                </a:solidFill>
                <a:latin typeface="Poppins"/>
                <a:ea typeface="Poppins"/>
                <a:cs typeface="Poppins"/>
                <a:sym typeface="Poppins"/>
              </a:rPr>
              <a:t>Technical Report &amp; GenAI Statement</a:t>
            </a:r>
            <a:endParaRPr lang="en-US" sz="1100"/>
          </a:p>
        </p:txBody>
      </p:sp>
      <p:sp>
        <p:nvSpPr>
          <p:cNvPr id="36" name="AutoShape 36"/>
          <p:cNvSpPr/>
          <p:nvPr/>
        </p:nvSpPr>
        <p:spPr>
          <a:xfrm>
            <a:off x="7620000" y="55626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B7280"/>
                </a:solidFill>
                <a:latin typeface="Poppins"/>
                <a:ea typeface="Poppins"/>
                <a:cs typeface="Poppins"/>
                <a:sym typeface="Poppins"/>
              </a:rPr>
              <a:t>EVIDENCE: Accompanying PDF submission documents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329"/>
                </a:solidFill>
                <a:latin typeface="Poppins"/>
                <a:ea typeface="Poppins"/>
                <a:cs typeface="Poppins"/>
                <a:sym typeface="Poppins"/>
              </a:rPr>
              <a:t>Architecture &amp; Stack Justification</a:t>
            </a:r>
            <a:endParaRPr lang="en-US" sz="1100"/>
          </a:p>
        </p:txBody>
      </p:sp>
      <p:sp>
        <p:nvSpPr>
          <p:cNvPr id="4" name="AutoShape 4"/>
          <p:cNvSpPr/>
          <p:nvPr/>
        </p:nvSpPr>
        <p:spPr>
          <a:xfrm>
            <a:off x="762000" y="1524000"/>
            <a:ext cx="3302000" cy="4572000"/>
          </a:xfrm>
          <a:prstGeom prst="roundRect">
            <a:avLst>
              <a:gd name="adj" fmla="val 4615"/>
            </a:avLst>
          </a:prstGeom>
          <a:solidFill>
            <a:srgbClr val="FFFFFF">
              <a:alpha val="100000"/>
            </a:srgbClr>
          </a:solidFill>
          <a:ln w="12700" cap="flat" cmpd="sng">
            <a:solidFill>
              <a:srgbClr val="E0E0E0">
                <a:alpha val="10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5" name="AutoShape 5"/>
          <p:cNvSpPr/>
          <p:nvPr/>
        </p:nvSpPr>
        <p:spPr>
          <a:xfrm>
            <a:off x="1016000" y="1778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Poppins"/>
                <a:ea typeface="Poppins"/>
                <a:cs typeface="Poppins"/>
                <a:sym typeface="Poppins"/>
              </a:rPr>
              <a:t>System Architecture</a:t>
            </a:r>
            <a:endParaRPr lang="en-US" sz="1100"/>
          </a:p>
        </p:txBody>
      </p:sp>
      <p:sp>
        <p:nvSpPr>
          <p:cNvPr id="6" name="AutoShape 6"/>
          <p:cNvSpPr/>
          <p:nvPr/>
        </p:nvSpPr>
        <p:spPr>
          <a:xfrm>
            <a:off x="1016000" y="2413000"/>
            <a:ext cx="2794000" cy="889000"/>
          </a:xfrm>
          <a:prstGeom prst="roundRect">
            <a:avLst>
              <a:gd name="adj" fmla="val 11428"/>
            </a:avLst>
          </a:prstGeom>
          <a:solidFill>
            <a:srgbClr val="EFF6FF">
              <a:alpha val="100000"/>
            </a:srgbClr>
          </a:solidFill>
          <a:ln w="12700" cap="flat" cmpd="sng">
            <a:solidFill>
              <a:srgbClr val="BFDBFE">
                <a:alpha val="100000"/>
              </a:srgbClr>
            </a:solidFill>
            <a:prstDash val="solid"/>
            <a:round/>
          </a:ln>
        </p:spPr>
        <p:txBody>
          <a:bodyPr vert="horz" wrap="square" lIns="0" tIns="0" rIns="0" bIns="0" rtlCol="0" anchor="ctr" anchorCtr="0"/>
          <a:lstStyle/>
          <a:p>
            <a:pPr algn="ctr">
              <a:defRPr/>
            </a:pPr>
            <a:endParaRPr/>
          </a:p>
        </p:txBody>
      </p:sp>
      <p:sp>
        <p:nvSpPr>
          <p:cNvPr id="7" name="AutoShape 7"/>
          <p:cNvSpPr/>
          <p:nvPr/>
        </p:nvSpPr>
        <p:spPr>
          <a:xfrm>
            <a:off x="1143000" y="26035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Poppins"/>
                <a:ea typeface="Poppins"/>
                <a:cs typeface="Poppins"/>
                <a:sym typeface="Poppins"/>
              </a:rPr>
              <a:t>Tier 1: Frontend Pages</a:t>
            </a:r>
            <a:endParaRPr lang="en-US" sz="1100"/>
          </a:p>
        </p:txBody>
      </p:sp>
      <p:sp>
        <p:nvSpPr>
          <p:cNvPr id="8" name="AutoShape 8"/>
          <p:cNvSpPr/>
          <p:nvPr/>
        </p:nvSpPr>
        <p:spPr>
          <a:xfrm>
            <a:off x="1143000" y="29845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Poppins"/>
                <a:ea typeface="Poppins"/>
                <a:cs typeface="Poppins"/>
                <a:sym typeface="Poppins"/>
              </a:rPr>
              <a:t>Core: HTML5 / CSS3 / JavaScript</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22500" y="3429000"/>
            <a:ext cx="304800" cy="304800"/>
          </a:xfrm>
          <a:prstGeom prst="rect">
            <a:avLst/>
          </a:prstGeom>
        </p:spPr>
      </p:pic>
      <p:sp>
        <p:nvSpPr>
          <p:cNvPr id="10" name="AutoShape 10"/>
          <p:cNvSpPr/>
          <p:nvPr/>
        </p:nvSpPr>
        <p:spPr>
          <a:xfrm>
            <a:off x="1016000" y="3873500"/>
            <a:ext cx="2794000" cy="889000"/>
          </a:xfrm>
          <a:prstGeom prst="roundRect">
            <a:avLst>
              <a:gd name="adj" fmla="val 11428"/>
            </a:avLst>
          </a:prstGeom>
          <a:solidFill>
            <a:srgbClr val="EFF6FF">
              <a:alpha val="100000"/>
            </a:srgbClr>
          </a:solidFill>
          <a:ln w="12700" cap="flat" cmpd="sng">
            <a:solidFill>
              <a:srgbClr val="BFDBFE">
                <a:alpha val="10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1143000" y="4064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Poppins"/>
                <a:ea typeface="Poppins"/>
                <a:cs typeface="Poppins"/>
                <a:sym typeface="Poppins"/>
              </a:rPr>
              <a:t>Tier 2: FastAPI Routers</a:t>
            </a:r>
            <a:endParaRPr lang="en-US" sz="1100"/>
          </a:p>
        </p:txBody>
      </p:sp>
      <p:sp>
        <p:nvSpPr>
          <p:cNvPr id="12" name="AutoShape 12"/>
          <p:cNvSpPr/>
          <p:nvPr/>
        </p:nvSpPr>
        <p:spPr>
          <a:xfrm>
            <a:off x="1143000" y="444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Poppins"/>
                <a:ea typeface="Poppins"/>
                <a:cs typeface="Poppins"/>
                <a:sym typeface="Poppins"/>
              </a:rPr>
              <a:t>Core: Python 3.10+ / Async Endpoints</a:t>
            </a:r>
            <a:endParaRPr lang="en-US" sz="110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22500" y="4889500"/>
            <a:ext cx="304800" cy="304800"/>
          </a:xfrm>
          <a:prstGeom prst="rect">
            <a:avLst/>
          </a:prstGeom>
        </p:spPr>
      </p:pic>
      <p:sp>
        <p:nvSpPr>
          <p:cNvPr id="14" name="AutoShape 14"/>
          <p:cNvSpPr/>
          <p:nvPr/>
        </p:nvSpPr>
        <p:spPr>
          <a:xfrm>
            <a:off x="1016000" y="5334000"/>
            <a:ext cx="2794000" cy="635000"/>
          </a:xfrm>
          <a:prstGeom prst="roundRect">
            <a:avLst>
              <a:gd name="adj" fmla="val 16000"/>
            </a:avLst>
          </a:prstGeom>
          <a:solidFill>
            <a:srgbClr val="EFF6FF">
              <a:alpha val="100000"/>
            </a:srgbClr>
          </a:solidFill>
          <a:ln w="12700" cap="flat" cmpd="sng">
            <a:solidFill>
              <a:srgbClr val="BFDBFE">
                <a:alpha val="100000"/>
              </a:srgbClr>
            </a:solidFill>
            <a:prstDash val="solid"/>
            <a:round/>
          </a:ln>
        </p:spPr>
        <p:txBody>
          <a:bodyPr vert="horz" wrap="square" lIns="0" tIns="0" rIns="0" bIns="0" rtlCol="0" anchor="ctr" anchorCtr="0"/>
          <a:lstStyle/>
          <a:p>
            <a:pPr algn="ctr">
              <a:defRPr/>
            </a:pPr>
            <a:endParaRPr/>
          </a:p>
        </p:txBody>
      </p:sp>
      <p:sp>
        <p:nvSpPr>
          <p:cNvPr id="15" name="AutoShape 15"/>
          <p:cNvSpPr/>
          <p:nvPr/>
        </p:nvSpPr>
        <p:spPr>
          <a:xfrm>
            <a:off x="1143000" y="5524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329"/>
                </a:solidFill>
                <a:latin typeface="Poppins"/>
                <a:ea typeface="Poppins"/>
                <a:cs typeface="Poppins"/>
                <a:sym typeface="Poppins"/>
              </a:rPr>
              <a:t>Tier 3: Data Layer</a:t>
            </a:r>
            <a:r>
              <a:rPr lang="en-US" sz="1100" b="0" i="0" u="none" strike="noStrike">
                <a:solidFill>
                  <a:srgbClr val="6B7280"/>
                </a:solidFill>
                <a:latin typeface="Poppins"/>
                <a:ea typeface="Poppins"/>
                <a:cs typeface="Poppins"/>
                <a:sym typeface="Poppins"/>
              </a:rPr>
              <a:t>(SQLAlchemy ORM → SQLite)</a:t>
            </a:r>
            <a:endParaRPr lang="en-US" sz="1100"/>
          </a:p>
        </p:txBody>
      </p:sp>
      <p:sp>
        <p:nvSpPr>
          <p:cNvPr id="16" name="AutoShape 16"/>
          <p:cNvSpPr/>
          <p:nvPr/>
        </p:nvSpPr>
        <p:spPr>
          <a:xfrm>
            <a:off x="4445000" y="1524000"/>
            <a:ext cx="3302000" cy="4572000"/>
          </a:xfrm>
          <a:prstGeom prst="roundRect">
            <a:avLst>
              <a:gd name="adj" fmla="val 4615"/>
            </a:avLst>
          </a:prstGeom>
          <a:solidFill>
            <a:srgbClr val="FFFFFF">
              <a:alpha val="100000"/>
            </a:srgbClr>
          </a:solidFill>
          <a:ln w="12700" cap="flat" cmpd="sng">
            <a:solidFill>
              <a:srgbClr val="E0E0E0">
                <a:alpha val="10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17" name="AutoShape 17"/>
          <p:cNvSpPr/>
          <p:nvPr/>
        </p:nvSpPr>
        <p:spPr>
          <a:xfrm>
            <a:off x="4699000" y="1778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Poppins"/>
                <a:ea typeface="Poppins"/>
                <a:cs typeface="Poppins"/>
                <a:sym typeface="Poppins"/>
              </a:rPr>
              <a:t>Technology Stack</a:t>
            </a:r>
            <a:endParaRPr lang="en-US" sz="1100"/>
          </a:p>
        </p:txBody>
      </p:sp>
      <p:sp>
        <p:nvSpPr>
          <p:cNvPr id="18" name="AutoShape 18"/>
          <p:cNvSpPr/>
          <p:nvPr/>
        </p:nvSpPr>
        <p:spPr>
          <a:xfrm>
            <a:off x="4699000" y="2413000"/>
            <a:ext cx="2794000" cy="889000"/>
          </a:xfrm>
          <a:prstGeom prst="roundRect">
            <a:avLst>
              <a:gd name="adj" fmla="val 11428"/>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6000" y="2603500"/>
            <a:ext cx="406400" cy="406400"/>
          </a:xfrm>
          <a:prstGeom prst="rect">
            <a:avLst/>
          </a:prstGeom>
        </p:spPr>
      </p:pic>
      <p:sp>
        <p:nvSpPr>
          <p:cNvPr id="20" name="AutoShape 20"/>
          <p:cNvSpPr/>
          <p:nvPr/>
        </p:nvSpPr>
        <p:spPr>
          <a:xfrm>
            <a:off x="5397500" y="2540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329"/>
                </a:solidFill>
                <a:latin typeface="Poppins"/>
                <a:ea typeface="Poppins"/>
                <a:cs typeface="Poppins"/>
                <a:sym typeface="Poppins"/>
              </a:rPr>
              <a:t>FastAPI Framework</a:t>
            </a:r>
            <a:endParaRPr lang="en-US" sz="1100"/>
          </a:p>
        </p:txBody>
      </p:sp>
      <p:sp>
        <p:nvSpPr>
          <p:cNvPr id="21" name="AutoShape 21"/>
          <p:cNvSpPr/>
          <p:nvPr/>
        </p:nvSpPr>
        <p:spPr>
          <a:xfrm>
            <a:off x="5397500" y="2857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High performance, auto docs, modern Python type hints.</a:t>
            </a:r>
            <a:endParaRPr lang="en-US" sz="1100"/>
          </a:p>
        </p:txBody>
      </p:sp>
      <p:sp>
        <p:nvSpPr>
          <p:cNvPr id="22" name="AutoShape 22"/>
          <p:cNvSpPr/>
          <p:nvPr/>
        </p:nvSpPr>
        <p:spPr>
          <a:xfrm>
            <a:off x="4699000" y="3429000"/>
            <a:ext cx="2794000" cy="889000"/>
          </a:xfrm>
          <a:prstGeom prst="roundRect">
            <a:avLst>
              <a:gd name="adj" fmla="val 11428"/>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26000" y="3619500"/>
            <a:ext cx="406400" cy="406400"/>
          </a:xfrm>
          <a:prstGeom prst="rect">
            <a:avLst/>
          </a:prstGeom>
        </p:spPr>
      </p:pic>
      <p:sp>
        <p:nvSpPr>
          <p:cNvPr id="24" name="AutoShape 24"/>
          <p:cNvSpPr/>
          <p:nvPr/>
        </p:nvSpPr>
        <p:spPr>
          <a:xfrm>
            <a:off x="5397500" y="3556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329"/>
                </a:solidFill>
                <a:latin typeface="Poppins"/>
                <a:ea typeface="Poppins"/>
                <a:cs typeface="Poppins"/>
                <a:sym typeface="Poppins"/>
              </a:rPr>
              <a:t>SQLAlchemy ORM</a:t>
            </a:r>
            <a:endParaRPr lang="en-US" sz="1100"/>
          </a:p>
        </p:txBody>
      </p:sp>
      <p:sp>
        <p:nvSpPr>
          <p:cNvPr id="25" name="AutoShape 25"/>
          <p:cNvSpPr/>
          <p:nvPr/>
        </p:nvSpPr>
        <p:spPr>
          <a:xfrm>
            <a:off x="5397500" y="3873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Simplifies DB interactions, enhances code maintainability.</a:t>
            </a:r>
            <a:endParaRPr lang="en-US" sz="1100"/>
          </a:p>
        </p:txBody>
      </p:sp>
      <p:sp>
        <p:nvSpPr>
          <p:cNvPr id="26" name="AutoShape 26"/>
          <p:cNvSpPr/>
          <p:nvPr/>
        </p:nvSpPr>
        <p:spPr>
          <a:xfrm>
            <a:off x="4699000" y="4445000"/>
            <a:ext cx="2794000" cy="889000"/>
          </a:xfrm>
          <a:prstGeom prst="roundRect">
            <a:avLst>
              <a:gd name="adj" fmla="val 11428"/>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26000" y="4635500"/>
            <a:ext cx="406400" cy="406400"/>
          </a:xfrm>
          <a:prstGeom prst="rect">
            <a:avLst/>
          </a:prstGeom>
        </p:spPr>
      </p:pic>
      <p:sp>
        <p:nvSpPr>
          <p:cNvPr id="28" name="AutoShape 28"/>
          <p:cNvSpPr/>
          <p:nvPr/>
        </p:nvSpPr>
        <p:spPr>
          <a:xfrm>
            <a:off x="5397500" y="4572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F2329"/>
                </a:solidFill>
                <a:latin typeface="Poppins"/>
                <a:ea typeface="Poppins"/>
                <a:cs typeface="Poppins"/>
                <a:sym typeface="Poppins"/>
              </a:rPr>
              <a:t>SQLite Database</a:t>
            </a:r>
            <a:endParaRPr lang="en-US" sz="1100"/>
          </a:p>
        </p:txBody>
      </p:sp>
      <p:sp>
        <p:nvSpPr>
          <p:cNvPr id="29" name="AutoShape 29"/>
          <p:cNvSpPr/>
          <p:nvPr/>
        </p:nvSpPr>
        <p:spPr>
          <a:xfrm>
            <a:off x="5397500" y="48895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Serverless, file-based, perfect for demo &amp; development.</a:t>
            </a:r>
            <a:endParaRPr lang="en-US" sz="1100"/>
          </a:p>
        </p:txBody>
      </p:sp>
      <p:sp>
        <p:nvSpPr>
          <p:cNvPr id="30" name="AutoShape 30"/>
          <p:cNvSpPr/>
          <p:nvPr/>
        </p:nvSpPr>
        <p:spPr>
          <a:xfrm>
            <a:off x="4699000" y="5461000"/>
            <a:ext cx="2794000" cy="635000"/>
          </a:xfrm>
          <a:prstGeom prst="roundRect">
            <a:avLst>
              <a:gd name="adj" fmla="val 16000"/>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26000" y="5588000"/>
            <a:ext cx="406400" cy="406400"/>
          </a:xfrm>
          <a:prstGeom prst="rect">
            <a:avLst/>
          </a:prstGeom>
        </p:spPr>
      </p:pic>
      <p:sp>
        <p:nvSpPr>
          <p:cNvPr id="32" name="AutoShape 32"/>
          <p:cNvSpPr/>
          <p:nvPr/>
        </p:nvSpPr>
        <p:spPr>
          <a:xfrm>
            <a:off x="5397500" y="55626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F2329"/>
                </a:solidFill>
                <a:latin typeface="Poppins"/>
                <a:ea typeface="Poppins"/>
                <a:cs typeface="Poppins"/>
                <a:sym typeface="Poppins"/>
              </a:rPr>
              <a:t>Uvicorn:</a:t>
            </a:r>
            <a:r>
              <a:rPr lang="en-US" sz="1100" b="0" i="0" u="none" strike="noStrike">
                <a:solidFill>
                  <a:srgbClr val="6B7280"/>
                </a:solidFill>
                <a:latin typeface="Poppins"/>
                <a:ea typeface="Poppins"/>
                <a:cs typeface="Poppins"/>
                <a:sym typeface="Poppins"/>
              </a:rPr>
              <a:t>ASGI runtime for FastAPI.</a:t>
            </a:r>
            <a:endParaRPr lang="en-US" sz="1100"/>
          </a:p>
        </p:txBody>
      </p:sp>
      <p:sp>
        <p:nvSpPr>
          <p:cNvPr id="33" name="AutoShape 33"/>
          <p:cNvSpPr/>
          <p:nvPr/>
        </p:nvSpPr>
        <p:spPr>
          <a:xfrm>
            <a:off x="8128000" y="1524000"/>
            <a:ext cx="3302000" cy="4572000"/>
          </a:xfrm>
          <a:prstGeom prst="roundRect">
            <a:avLst>
              <a:gd name="adj" fmla="val 4615"/>
            </a:avLst>
          </a:prstGeom>
          <a:solidFill>
            <a:srgbClr val="FFFFFF">
              <a:alpha val="100000"/>
            </a:srgbClr>
          </a:solidFill>
          <a:ln w="12700" cap="flat" cmpd="sng">
            <a:solidFill>
              <a:srgbClr val="E0E0E0">
                <a:alpha val="100000"/>
              </a:srgbClr>
            </a:solidFill>
            <a:prstDash val="solid"/>
            <a:round/>
          </a:ln>
          <a:effectLst>
            <a:outerShdw blurRad="127000" dist="50800" dir="2700000" algn="tl" rotWithShape="0">
              <a:srgbClr val="000000">
                <a:alpha val="8000"/>
              </a:srgbClr>
            </a:outerShdw>
          </a:effectLst>
        </p:spPr>
        <p:txBody>
          <a:bodyPr vert="horz" wrap="square" lIns="0" tIns="0" rIns="0" bIns="0" rtlCol="0" anchor="ctr" anchorCtr="0"/>
          <a:lstStyle/>
          <a:p>
            <a:pPr algn="ctr">
              <a:defRPr/>
            </a:pPr>
            <a:endParaRPr/>
          </a:p>
        </p:txBody>
      </p:sp>
      <p:sp>
        <p:nvSpPr>
          <p:cNvPr id="34" name="AutoShape 34"/>
          <p:cNvSpPr/>
          <p:nvPr/>
        </p:nvSpPr>
        <p:spPr>
          <a:xfrm>
            <a:off x="8382000" y="1778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Poppins"/>
                <a:ea typeface="Poppins"/>
                <a:cs typeface="Poppins"/>
                <a:sym typeface="Poppins"/>
              </a:rPr>
              <a:t>Security Layer</a:t>
            </a:r>
            <a:endParaRPr lang="en-US" sz="1100"/>
          </a:p>
        </p:txBody>
      </p:sp>
      <p:sp>
        <p:nvSpPr>
          <p:cNvPr id="35" name="AutoShape 35"/>
          <p:cNvSpPr/>
          <p:nvPr/>
        </p:nvSpPr>
        <p:spPr>
          <a:xfrm>
            <a:off x="8382000" y="2413000"/>
            <a:ext cx="2794000" cy="1270000"/>
          </a:xfrm>
          <a:prstGeom prst="roundRect">
            <a:avLst>
              <a:gd name="adj" fmla="val 8000"/>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72500" y="2730500"/>
            <a:ext cx="609600" cy="609600"/>
          </a:xfrm>
          <a:prstGeom prst="rect">
            <a:avLst/>
          </a:prstGeom>
        </p:spPr>
      </p:pic>
      <p:sp>
        <p:nvSpPr>
          <p:cNvPr id="37" name="AutoShape 37"/>
          <p:cNvSpPr/>
          <p:nvPr/>
        </p:nvSpPr>
        <p:spPr>
          <a:xfrm>
            <a:off x="9334500" y="2667000"/>
            <a:ext cx="165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Poppins"/>
                <a:ea typeface="Poppins"/>
                <a:cs typeface="Poppins"/>
                <a:sym typeface="Poppins"/>
              </a:rPr>
              <a:t>API Key Auth</a:t>
            </a:r>
            <a:endParaRPr lang="en-US" sz="1100"/>
          </a:p>
        </p:txBody>
      </p:sp>
      <p:sp>
        <p:nvSpPr>
          <p:cNvPr id="38" name="AutoShape 38"/>
          <p:cNvSpPr/>
          <p:nvPr/>
        </p:nvSpPr>
        <p:spPr>
          <a:xfrm>
            <a:off x="9334500" y="31115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Verifies server-to-server communication integrity.</a:t>
            </a:r>
            <a:endParaRPr lang="en-US" sz="1100"/>
          </a:p>
        </p:txBody>
      </p:sp>
      <p:sp>
        <p:nvSpPr>
          <p:cNvPr id="39" name="AutoShape 39"/>
          <p:cNvSpPr/>
          <p:nvPr/>
        </p:nvSpPr>
        <p:spPr>
          <a:xfrm>
            <a:off x="8382000" y="3937000"/>
            <a:ext cx="2794000" cy="1397000"/>
          </a:xfrm>
          <a:prstGeom prst="roundRect">
            <a:avLst>
              <a:gd name="adj" fmla="val 7272"/>
            </a:avLst>
          </a:prstGeom>
          <a:solidFill>
            <a:srgbClr val="F9FAF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40" name="Picture 4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72500" y="4318000"/>
            <a:ext cx="609600" cy="609600"/>
          </a:xfrm>
          <a:prstGeom prst="rect">
            <a:avLst/>
          </a:prstGeom>
        </p:spPr>
      </p:pic>
      <p:sp>
        <p:nvSpPr>
          <p:cNvPr id="41" name="AutoShape 41"/>
          <p:cNvSpPr/>
          <p:nvPr/>
        </p:nvSpPr>
        <p:spPr>
          <a:xfrm>
            <a:off x="9334500" y="4254500"/>
            <a:ext cx="165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Poppins"/>
                <a:ea typeface="Poppins"/>
                <a:cs typeface="Poppins"/>
                <a:sym typeface="Poppins"/>
              </a:rPr>
              <a:t>Bearer Token (JWT)</a:t>
            </a:r>
            <a:endParaRPr lang="en-US" sz="1100"/>
          </a:p>
        </p:txBody>
      </p:sp>
      <p:sp>
        <p:nvSpPr>
          <p:cNvPr id="42" name="AutoShape 42"/>
          <p:cNvSpPr/>
          <p:nvPr/>
        </p:nvSpPr>
        <p:spPr>
          <a:xfrm>
            <a:off x="9334500" y="46990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B7280"/>
                </a:solidFill>
                <a:latin typeface="Poppins"/>
                <a:ea typeface="Poppins"/>
                <a:cs typeface="Poppins"/>
                <a:sym typeface="Poppins"/>
              </a:rPr>
              <a:t>Secure user sessions &amp; role-based access control.</a:t>
            </a:r>
            <a:endParaRPr lang="en-US" sz="1100"/>
          </a:p>
        </p:txBody>
      </p:sp>
      <p:sp>
        <p:nvSpPr>
          <p:cNvPr id="43" name="AutoShape 43"/>
          <p:cNvSpPr/>
          <p:nvPr/>
        </p:nvSpPr>
        <p:spPr>
          <a:xfrm>
            <a:off x="8382000" y="5588000"/>
            <a:ext cx="2794000" cy="381000"/>
          </a:xfrm>
          <a:prstGeom prst="roundRect">
            <a:avLst>
              <a:gd name="adj" fmla="val 0"/>
            </a:avLst>
          </a:prstGeom>
          <a:solidFill>
            <a:srgbClr val="DBEAFE">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44" name="AutoShape 44"/>
          <p:cNvSpPr/>
          <p:nvPr/>
        </p:nvSpPr>
        <p:spPr>
          <a:xfrm>
            <a:off x="8382000" y="5651500"/>
            <a:ext cx="2794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1E40AF"/>
                </a:solidFill>
                <a:latin typeface="Poppins"/>
                <a:ea typeface="Poppins"/>
                <a:cs typeface="Poppins"/>
                <a:sym typeface="Poppins"/>
              </a:rPr>
              <a:t>End-to-End Data Protection</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Grid">
          <a:fgClr>
            <a:srgbClr val="E5E7EB">
              <a:alpha val="100000"/>
            </a:srgbClr>
          </a:fgClr>
          <a:bgClr>
            <a:srgbClr val="FFFFFF">
              <a:alpha val="100000"/>
            </a:srgbClr>
          </a:bgClr>
        </a:pattFill>
        <a:effectLst/>
      </p:bgPr>
    </p:bg>
    <p:spTree>
      <p:nvGrpSpPr>
        <p:cNvPr id="1" name=""/>
        <p:cNvGrpSpPr/>
        <p:nvPr/>
      </p:nvGrpSpPr>
      <p:grpSpPr>
        <a:xfrm>
          <a:off x="0" y="0"/>
          <a:ext cx="0" cy="0"/>
          <a:chOff x="0" y="0"/>
          <a:chExt cx="0" cy="0"/>
        </a:xfrm>
      </p:grpSpPr>
      <p:sp>
        <p:nvSpPr>
          <p:cNvPr id="2" name="AutoShape 2"/>
          <p:cNvSpPr/>
          <p:nvPr/>
        </p:nvSpPr>
        <p:spPr>
          <a:xfrm>
            <a:off x="762000" y="635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Data Model Design</a:t>
            </a:r>
            <a:endParaRPr lang="en-US" sz="1100"/>
          </a:p>
        </p:txBody>
      </p:sp>
      <p:sp>
        <p:nvSpPr>
          <p:cNvPr id="3" name="AutoShape 3"/>
          <p:cNvSpPr/>
          <p:nvPr/>
        </p:nvSpPr>
        <p:spPr>
          <a:xfrm>
            <a:off x="762000" y="1651000"/>
            <a:ext cx="3302000" cy="4318000"/>
          </a:xfrm>
          <a:prstGeom prst="roundRect">
            <a:avLst>
              <a:gd name="adj" fmla="val 4615"/>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1905000"/>
            <a:ext cx="609600" cy="609600"/>
          </a:xfrm>
          <a:prstGeom prst="ellipse">
            <a:avLst/>
          </a:prstGeom>
          <a:solidFill>
            <a:srgbClr val="00E5FF">
              <a:alpha val="20000"/>
            </a:srgbClr>
          </a:solidFill>
          <a:ln w="25400" cap="flat" cmpd="sng">
            <a:no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7600" y="2006600"/>
            <a:ext cx="406400" cy="406400"/>
          </a:xfrm>
          <a:prstGeom prst="rect">
            <a:avLst/>
          </a:prstGeom>
        </p:spPr>
      </p:pic>
      <p:sp>
        <p:nvSpPr>
          <p:cNvPr id="6" name="AutoShape 6"/>
          <p:cNvSpPr/>
          <p:nvPr/>
        </p:nvSpPr>
        <p:spPr>
          <a:xfrm>
            <a:off x="1778000" y="2006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8C"/>
                </a:solidFill>
                <a:latin typeface="Poppins"/>
                <a:ea typeface="Poppins"/>
                <a:cs typeface="Poppins"/>
                <a:sym typeface="Poppins"/>
              </a:rPr>
              <a:t>Core Entities</a:t>
            </a:r>
            <a:endParaRPr lang="en-US" sz="1100"/>
          </a:p>
        </p:txBody>
      </p:sp>
      <p:cxnSp>
        <p:nvCxnSpPr>
          <p:cNvPr id="7" name="Connector 7"/>
          <p:cNvCxnSpPr/>
          <p:nvPr/>
        </p:nvCxnSpPr>
        <p:spPr>
          <a:xfrm rot="-15625">
            <a:off x="1016014" y="2787650"/>
            <a:ext cx="2794029"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8" name="AutoShape 8"/>
          <p:cNvSpPr/>
          <p:nvPr/>
        </p:nvSpPr>
        <p:spPr>
          <a:xfrm>
            <a:off x="1016000" y="3048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200" b="0" i="0" u="none" strike="noStrike">
                <a:solidFill>
                  <a:srgbClr val="333333"/>
                </a:solidFill>
                <a:latin typeface="Poppins"/>
                <a:ea typeface="Poppins"/>
                <a:cs typeface="Poppins"/>
                <a:sym typeface="Poppins"/>
              </a:rPr>
              <a:t>•</a:t>
            </a:r>
            <a:r>
              <a:rPr lang="en-US" sz="1200" b="1" i="0" u="none" strike="noStrike">
                <a:solidFill>
                  <a:srgbClr val="333333"/>
                </a:solidFill>
                <a:latin typeface="Poppins"/>
                <a:ea typeface="Poppins"/>
                <a:cs typeface="Poppins"/>
                <a:sym typeface="Poppins"/>
              </a:rPr>
              <a:t>AppUser:</a:t>
            </a:r>
            <a:r>
              <a:rPr lang="en-US" sz="1200" b="0" i="0" u="none" strike="noStrike">
                <a:solidFill>
                  <a:srgbClr val="333333"/>
                </a:solidFill>
                <a:latin typeface="Poppins"/>
                <a:ea typeface="Poppins"/>
                <a:cs typeface="Poppins"/>
                <a:sym typeface="Poppins"/>
              </a:rPr>
              <a:t>User credentials &amp; base info</a:t>
            </a:r>
            <a:endParaRPr lang="en-US" sz="1100"/>
          </a:p>
          <a:p>
            <a:pPr indent="0" algn="l">
              <a:lnSpc>
                <a:spcPct val="133333"/>
              </a:lnSpc>
            </a:pPr>
            <a:r>
              <a:rPr lang="en-US" sz="1200" b="0" i="0" u="none" strike="noStrike">
                <a:solidFill>
                  <a:srgbClr val="333333"/>
                </a:solidFill>
                <a:latin typeface="Poppins"/>
                <a:ea typeface="Poppins"/>
                <a:cs typeface="Poppins"/>
                <a:sym typeface="Poppins"/>
              </a:rPr>
              <a:t>•</a:t>
            </a:r>
            <a:r>
              <a:rPr lang="en-US" sz="1200" b="1" i="0" u="none" strike="noStrike">
                <a:solidFill>
                  <a:srgbClr val="333333"/>
                </a:solidFill>
                <a:latin typeface="Poppins"/>
                <a:ea typeface="Poppins"/>
                <a:cs typeface="Poppins"/>
                <a:sym typeface="Poppins"/>
              </a:rPr>
              <a:t>AuthToken:</a:t>
            </a:r>
            <a:r>
              <a:rPr lang="en-US" sz="1200" b="0" i="0" u="none" strike="noStrike">
                <a:solidFill>
                  <a:srgbClr val="333333"/>
                </a:solidFill>
                <a:latin typeface="Poppins"/>
                <a:ea typeface="Poppins"/>
                <a:cs typeface="Poppins"/>
                <a:sym typeface="Poppins"/>
              </a:rPr>
              <a:t>Session &amp; access tokens</a:t>
            </a:r>
          </a:p>
          <a:p>
            <a:pPr indent="0" algn="l">
              <a:lnSpc>
                <a:spcPct val="133333"/>
              </a:lnSpc>
            </a:pPr>
            <a:r>
              <a:rPr lang="en-US" sz="1200" b="0" i="0" u="none" strike="noStrike">
                <a:solidFill>
                  <a:srgbClr val="333333"/>
                </a:solidFill>
                <a:latin typeface="Poppins"/>
                <a:ea typeface="Poppins"/>
                <a:cs typeface="Poppins"/>
                <a:sym typeface="Poppins"/>
              </a:rPr>
              <a:t>•</a:t>
            </a:r>
            <a:r>
              <a:rPr lang="en-US" sz="1200" b="1" i="0" u="none" strike="noStrike">
                <a:solidFill>
                  <a:srgbClr val="333333"/>
                </a:solidFill>
                <a:latin typeface="Poppins"/>
                <a:ea typeface="Poppins"/>
                <a:cs typeface="Poppins"/>
                <a:sym typeface="Poppins"/>
              </a:rPr>
              <a:t>Track:</a:t>
            </a:r>
            <a:r>
              <a:rPr lang="en-US" sz="1200" b="0" i="0" u="none" strike="noStrike">
                <a:solidFill>
                  <a:srgbClr val="333333"/>
                </a:solidFill>
                <a:latin typeface="Poppins"/>
                <a:ea typeface="Poppins"/>
                <a:cs typeface="Poppins"/>
                <a:sym typeface="Poppins"/>
              </a:rPr>
              <a:t>Music metadata &amp; features</a:t>
            </a:r>
          </a:p>
          <a:p>
            <a:pPr indent="0" algn="l">
              <a:lnSpc>
                <a:spcPct val="133333"/>
              </a:lnSpc>
            </a:pPr>
            <a:r>
              <a:rPr lang="en-US" sz="1200" b="0" i="0" u="none" strike="noStrike">
                <a:solidFill>
                  <a:srgbClr val="333333"/>
                </a:solidFill>
                <a:latin typeface="Poppins"/>
                <a:ea typeface="Poppins"/>
                <a:cs typeface="Poppins"/>
                <a:sym typeface="Poppins"/>
              </a:rPr>
              <a:t>•</a:t>
            </a:r>
            <a:r>
              <a:rPr lang="en-US" sz="1200" b="1" i="0" u="none" strike="noStrike">
                <a:solidFill>
                  <a:srgbClr val="333333"/>
                </a:solidFill>
                <a:latin typeface="Poppins"/>
                <a:ea typeface="Poppins"/>
                <a:cs typeface="Poppins"/>
                <a:sym typeface="Poppins"/>
              </a:rPr>
              <a:t>UserProfile:</a:t>
            </a:r>
            <a:r>
              <a:rPr lang="en-US" sz="1200" b="0" i="0" u="none" strike="noStrike">
                <a:solidFill>
                  <a:srgbClr val="333333"/>
                </a:solidFill>
                <a:latin typeface="Poppins"/>
                <a:ea typeface="Poppins"/>
                <a:cs typeface="Poppins"/>
                <a:sym typeface="Poppins"/>
              </a:rPr>
              <a:t>Preferences &amp; settings</a:t>
            </a:r>
          </a:p>
        </p:txBody>
      </p:sp>
      <p:sp>
        <p:nvSpPr>
          <p:cNvPr id="9" name="AutoShape 9"/>
          <p:cNvSpPr/>
          <p:nvPr/>
        </p:nvSpPr>
        <p:spPr>
          <a:xfrm>
            <a:off x="4445000" y="1651000"/>
            <a:ext cx="3302000" cy="4318000"/>
          </a:xfrm>
          <a:prstGeom prst="roundRect">
            <a:avLst>
              <a:gd name="adj" fmla="val 4615"/>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4699000" y="1905000"/>
            <a:ext cx="609600" cy="609600"/>
          </a:xfrm>
          <a:prstGeom prst="ellipse">
            <a:avLst/>
          </a:prstGeom>
          <a:solidFill>
            <a:srgbClr val="00E5FF">
              <a:alpha val="20000"/>
            </a:srgbClr>
          </a:solidFill>
          <a:ln w="25400" cap="flat" cmpd="sng">
            <a:no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00600" y="2006600"/>
            <a:ext cx="406400" cy="406400"/>
          </a:xfrm>
          <a:prstGeom prst="rect">
            <a:avLst/>
          </a:prstGeom>
        </p:spPr>
      </p:pic>
      <p:sp>
        <p:nvSpPr>
          <p:cNvPr id="12" name="AutoShape 12"/>
          <p:cNvSpPr/>
          <p:nvPr/>
        </p:nvSpPr>
        <p:spPr>
          <a:xfrm>
            <a:off x="5461000" y="2006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8C"/>
                </a:solidFill>
                <a:latin typeface="Poppins"/>
                <a:ea typeface="Poppins"/>
                <a:cs typeface="Poppins"/>
                <a:sym typeface="Poppins"/>
              </a:rPr>
              <a:t>Relationships</a:t>
            </a:r>
            <a:endParaRPr lang="en-US" sz="1100"/>
          </a:p>
        </p:txBody>
      </p:sp>
      <p:cxnSp>
        <p:nvCxnSpPr>
          <p:cNvPr id="13" name="Connector 13"/>
          <p:cNvCxnSpPr/>
          <p:nvPr/>
        </p:nvCxnSpPr>
        <p:spPr>
          <a:xfrm rot="-15625">
            <a:off x="4699014" y="2787650"/>
            <a:ext cx="2794029"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14" name="AutoShape 14"/>
          <p:cNvSpPr/>
          <p:nvPr/>
        </p:nvSpPr>
        <p:spPr>
          <a:xfrm>
            <a:off x="4699000" y="3048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Poppins"/>
                <a:ea typeface="Poppins"/>
                <a:cs typeface="Poppins"/>
                <a:sym typeface="Poppins"/>
              </a:rPr>
              <a:t>•</a:t>
            </a:r>
            <a:r>
              <a:rPr lang="en-US" sz="1200" b="1" i="0" u="none" strike="noStrike">
                <a:solidFill>
                  <a:srgbClr val="333333"/>
                </a:solidFill>
                <a:latin typeface="Poppins"/>
                <a:ea typeface="Poppins"/>
                <a:cs typeface="Poppins"/>
                <a:sym typeface="Poppins"/>
              </a:rPr>
              <a:t>ListeningRecord</a:t>
            </a:r>
            <a:r>
              <a:rPr lang="en-US" sz="1200" b="0" i="0" u="none" strike="noStrike">
                <a:solidFill>
                  <a:srgbClr val="333333"/>
                </a:solidFill>
                <a:latin typeface="Poppins"/>
                <a:ea typeface="Poppins"/>
                <a:cs typeface="Poppins"/>
                <a:sym typeface="Poppins"/>
              </a:rPr>
              <a:t>links to</a:t>
            </a:r>
            <a:r>
              <a:rPr lang="en-US" sz="1200" b="1" i="0" u="none" strike="noStrike">
                <a:solidFill>
                  <a:srgbClr val="333333"/>
                </a:solidFill>
                <a:latin typeface="Poppins"/>
                <a:ea typeface="Poppins"/>
                <a:cs typeface="Poppins"/>
                <a:sym typeface="Poppins"/>
              </a:rPr>
              <a:t>Track</a:t>
            </a:r>
            <a:br>
              <a:rPr lang="en-US" sz="1600" b="0" i="0" u="none" strike="noStrike">
                <a:solidFill>
                  <a:srgbClr val="333333"/>
                </a:solidFill>
                <a:latin typeface="Poppins"/>
                <a:ea typeface="Poppins"/>
                <a:cs typeface="Poppins"/>
                <a:sym typeface="Poppins"/>
              </a:rPr>
            </a:br>
            <a:r>
              <a:rPr lang="en-US" sz="1000" b="0" i="0" u="none" strike="noStrike">
                <a:solidFill>
                  <a:srgbClr val="6B7280"/>
                </a:solidFill>
                <a:latin typeface="Poppins"/>
                <a:ea typeface="Poppins"/>
                <a:cs typeface="Poppins"/>
                <a:sym typeface="Poppins"/>
              </a:rPr>
              <a:t>via `track_id` foreign key</a:t>
            </a:r>
            <a:endParaRPr lang="en-US" sz="1100"/>
          </a:p>
          <a:p>
            <a:pPr indent="0" algn="l">
              <a:lnSpc>
                <a:spcPct val="125000"/>
              </a:lnSpc>
            </a:pPr>
            <a:r>
              <a:rPr lang="en-US" sz="1200" b="0" i="0" u="none" strike="noStrike">
                <a:solidFill>
                  <a:srgbClr val="333333"/>
                </a:solidFill>
                <a:latin typeface="Poppins"/>
                <a:ea typeface="Poppins"/>
                <a:cs typeface="Poppins"/>
                <a:sym typeface="Poppins"/>
              </a:rPr>
              <a:t>•</a:t>
            </a:r>
            <a:r>
              <a:rPr lang="en-US" sz="1200" b="1" i="0" u="none" strike="noStrike">
                <a:solidFill>
                  <a:srgbClr val="333333"/>
                </a:solidFill>
                <a:latin typeface="Poppins"/>
                <a:ea typeface="Poppins"/>
                <a:cs typeface="Poppins"/>
                <a:sym typeface="Poppins"/>
              </a:rPr>
              <a:t>ListeningRecord</a:t>
            </a:r>
            <a:r>
              <a:rPr lang="en-US" sz="1200" b="0" i="0" u="none" strike="noStrike">
                <a:solidFill>
                  <a:srgbClr val="333333"/>
                </a:solidFill>
                <a:latin typeface="Poppins"/>
                <a:ea typeface="Poppins"/>
                <a:cs typeface="Poppins"/>
                <a:sym typeface="Poppins"/>
              </a:rPr>
              <a:t>links to</a:t>
            </a:r>
            <a:r>
              <a:rPr lang="en-US" sz="1200" b="1" i="0" u="none" strike="noStrike">
                <a:solidFill>
                  <a:srgbClr val="333333"/>
                </a:solidFill>
                <a:latin typeface="Poppins"/>
                <a:ea typeface="Poppins"/>
                <a:cs typeface="Poppins"/>
                <a:sym typeface="Poppins"/>
              </a:rPr>
              <a:t>AppUser</a:t>
            </a:r>
            <a:br>
              <a:rPr lang="en-US" sz="1600" b="0" i="0" u="none" strike="noStrike">
                <a:solidFill>
                  <a:srgbClr val="333333"/>
                </a:solidFill>
                <a:latin typeface="Poppins"/>
                <a:ea typeface="Poppins"/>
                <a:cs typeface="Poppins"/>
                <a:sym typeface="Poppins"/>
              </a:rPr>
            </a:br>
            <a:r>
              <a:rPr lang="en-US" sz="1000" b="0" i="0" u="none" strike="noStrike">
                <a:solidFill>
                  <a:srgbClr val="6B7280"/>
                </a:solidFill>
                <a:latin typeface="Poppins"/>
                <a:ea typeface="Poppins"/>
                <a:cs typeface="Poppins"/>
                <a:sym typeface="Poppins"/>
              </a:rPr>
              <a:t>via `user_id` foreign key</a:t>
            </a:r>
          </a:p>
          <a:p>
            <a:pPr indent="0" algn="l">
              <a:lnSpc>
                <a:spcPct val="125000"/>
              </a:lnSpc>
            </a:pPr>
            <a:r>
              <a:rPr lang="en-US" sz="1200" b="0" i="0" u="none" strike="noStrike">
                <a:solidFill>
                  <a:srgbClr val="333333"/>
                </a:solidFill>
                <a:latin typeface="Poppins"/>
                <a:ea typeface="Poppins"/>
                <a:cs typeface="Poppins"/>
                <a:sym typeface="Poppins"/>
              </a:rPr>
              <a:t>•</a:t>
            </a:r>
            <a:r>
              <a:rPr lang="en-US" sz="1200" b="1" i="0" u="none" strike="noStrike">
                <a:solidFill>
                  <a:srgbClr val="333333"/>
                </a:solidFill>
                <a:latin typeface="Poppins"/>
                <a:ea typeface="Poppins"/>
                <a:cs typeface="Poppins"/>
                <a:sym typeface="Poppins"/>
              </a:rPr>
              <a:t>AuthToken</a:t>
            </a:r>
            <a:r>
              <a:rPr lang="en-US" sz="1200" b="0" i="0" u="none" strike="noStrike">
                <a:solidFill>
                  <a:srgbClr val="333333"/>
                </a:solidFill>
                <a:latin typeface="Poppins"/>
                <a:ea typeface="Poppins"/>
                <a:cs typeface="Poppins"/>
                <a:sym typeface="Poppins"/>
              </a:rPr>
              <a:t>maps to</a:t>
            </a:r>
            <a:r>
              <a:rPr lang="en-US" sz="1200" b="1" i="0" u="none" strike="noStrike">
                <a:solidFill>
                  <a:srgbClr val="333333"/>
                </a:solidFill>
                <a:latin typeface="Poppins"/>
                <a:ea typeface="Poppins"/>
                <a:cs typeface="Poppins"/>
                <a:sym typeface="Poppins"/>
              </a:rPr>
              <a:t>AppUser</a:t>
            </a:r>
            <a:br>
              <a:rPr lang="en-US" sz="1600" b="0" i="0" u="none" strike="noStrike">
                <a:solidFill>
                  <a:srgbClr val="333333"/>
                </a:solidFill>
                <a:latin typeface="Poppins"/>
                <a:ea typeface="Poppins"/>
                <a:cs typeface="Poppins"/>
                <a:sym typeface="Poppins"/>
              </a:rPr>
            </a:br>
            <a:r>
              <a:rPr lang="en-US" sz="1000" b="0" i="0" u="none" strike="noStrike">
                <a:solidFill>
                  <a:srgbClr val="6B7280"/>
                </a:solidFill>
                <a:latin typeface="Poppins"/>
                <a:ea typeface="Poppins"/>
                <a:cs typeface="Poppins"/>
                <a:sym typeface="Poppins"/>
              </a:rPr>
              <a:t>one-to-one user ownership</a:t>
            </a:r>
          </a:p>
        </p:txBody>
      </p:sp>
      <p:sp>
        <p:nvSpPr>
          <p:cNvPr id="15" name="AutoShape 15"/>
          <p:cNvSpPr/>
          <p:nvPr/>
        </p:nvSpPr>
        <p:spPr>
          <a:xfrm>
            <a:off x="8128000" y="1651000"/>
            <a:ext cx="3302000" cy="4318000"/>
          </a:xfrm>
          <a:prstGeom prst="roundRect">
            <a:avLst>
              <a:gd name="adj" fmla="val 4615"/>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6" name="AutoShape 16"/>
          <p:cNvSpPr/>
          <p:nvPr/>
        </p:nvSpPr>
        <p:spPr>
          <a:xfrm>
            <a:off x="8382000" y="1905000"/>
            <a:ext cx="609600" cy="609600"/>
          </a:xfrm>
          <a:prstGeom prst="ellipse">
            <a:avLst/>
          </a:prstGeom>
          <a:solidFill>
            <a:srgbClr val="00E5FF">
              <a:alpha val="20000"/>
            </a:srgbClr>
          </a:solidFill>
          <a:ln w="25400" cap="flat" cmpd="sng">
            <a:no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83600" y="2006600"/>
            <a:ext cx="406400" cy="406400"/>
          </a:xfrm>
          <a:prstGeom prst="rect">
            <a:avLst/>
          </a:prstGeom>
        </p:spPr>
      </p:pic>
      <p:sp>
        <p:nvSpPr>
          <p:cNvPr id="18" name="AutoShape 18"/>
          <p:cNvSpPr/>
          <p:nvPr/>
        </p:nvSpPr>
        <p:spPr>
          <a:xfrm>
            <a:off x="9144000" y="2006600"/>
            <a:ext cx="203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88C"/>
                </a:solidFill>
                <a:latin typeface="Poppins"/>
                <a:ea typeface="Poppins"/>
                <a:cs typeface="Poppins"/>
                <a:sym typeface="Poppins"/>
              </a:rPr>
              <a:t>Track Features</a:t>
            </a:r>
            <a:endParaRPr lang="en-US" sz="1100"/>
          </a:p>
        </p:txBody>
      </p:sp>
      <p:cxnSp>
        <p:nvCxnSpPr>
          <p:cNvPr id="19" name="Connector 19"/>
          <p:cNvCxnSpPr/>
          <p:nvPr/>
        </p:nvCxnSpPr>
        <p:spPr>
          <a:xfrm rot="-15625">
            <a:off x="8382014" y="2787650"/>
            <a:ext cx="2794029"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20" name="AutoShape 20"/>
          <p:cNvSpPr/>
          <p:nvPr/>
        </p:nvSpPr>
        <p:spPr>
          <a:xfrm>
            <a:off x="8382000" y="3048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333333"/>
                </a:solidFill>
                <a:latin typeface="Poppins"/>
                <a:ea typeface="Poppins"/>
                <a:cs typeface="Poppins"/>
                <a:sym typeface="Poppins"/>
              </a:rPr>
              <a:t>Core Metrics (Normalized 0-1):</a:t>
            </a:r>
            <a:br>
              <a:rPr lang="en-US" sz="1200" b="0" i="0" u="none" strike="noStrike">
                <a:solidFill>
                  <a:srgbClr val="333333"/>
                </a:solidFill>
                <a:latin typeface="Poppins"/>
                <a:ea typeface="Poppins"/>
                <a:cs typeface="Poppins"/>
                <a:sym typeface="Poppins"/>
              </a:rPr>
            </a:br>
            <a:r>
              <a:rPr lang="en-US" sz="1200" b="0" i="0" u="none" strike="noStrike">
                <a:solidFill>
                  <a:srgbClr val="333333"/>
                </a:solidFill>
                <a:latin typeface="Poppins"/>
                <a:ea typeface="Poppins"/>
                <a:cs typeface="Poppins"/>
                <a:sym typeface="Poppins"/>
              </a:rPr>
              <a:t>Energy, Danceability, Valence,</a:t>
            </a:r>
            <a:br>
              <a:rPr lang="en-US" sz="1200" b="0" i="0" u="none" strike="noStrike">
                <a:solidFill>
                  <a:srgbClr val="333333"/>
                </a:solidFill>
                <a:latin typeface="Poppins"/>
                <a:ea typeface="Poppins"/>
                <a:cs typeface="Poppins"/>
                <a:sym typeface="Poppins"/>
              </a:rPr>
            </a:br>
            <a:r>
              <a:rPr lang="en-US" sz="1200" b="0" i="0" u="none" strike="noStrike">
                <a:solidFill>
                  <a:srgbClr val="333333"/>
                </a:solidFill>
                <a:latin typeface="Poppins"/>
                <a:ea typeface="Poppins"/>
                <a:cs typeface="Poppins"/>
                <a:sym typeface="Poppins"/>
              </a:rPr>
              <a:t>Acousticness, Tempo, Popularity</a:t>
            </a:r>
            <a:endParaRPr lang="en-US" sz="1100"/>
          </a:p>
        </p:txBody>
      </p:sp>
      <p:sp>
        <p:nvSpPr>
          <p:cNvPr id="21" name="AutoShape 21"/>
          <p:cNvSpPr/>
          <p:nvPr/>
        </p:nvSpPr>
        <p:spPr>
          <a:xfrm>
            <a:off x="8382000" y="4572000"/>
            <a:ext cx="2794000" cy="762000"/>
          </a:xfrm>
          <a:prstGeom prst="roundRect">
            <a:avLst>
              <a:gd name="adj" fmla="val 13333"/>
            </a:avLst>
          </a:prstGeom>
          <a:solidFill>
            <a:srgbClr val="00E5FF">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8509000" y="4699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00788C"/>
                </a:solidFill>
                <a:latin typeface="Poppins"/>
                <a:ea typeface="Poppins"/>
                <a:cs typeface="Poppins"/>
                <a:sym typeface="Poppins"/>
              </a:rPr>
              <a:t>Constraint:</a:t>
            </a:r>
            <a:r>
              <a:rPr lang="en-US" sz="1100" b="0" i="0" u="none" strike="noStrike">
                <a:solidFill>
                  <a:srgbClr val="00788C"/>
                </a:solidFill>
                <a:latin typeface="Poppins"/>
                <a:ea typeface="Poppins"/>
                <a:cs typeface="Poppins"/>
                <a:sym typeface="Poppins"/>
              </a:rPr>
              <a:t>All features stored as strict floats between 0.0 and 1.0.</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8FAFC">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62000" y="635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329"/>
                </a:solidFill>
                <a:latin typeface="Poppins"/>
                <a:ea typeface="Poppins"/>
                <a:cs typeface="Poppins"/>
                <a:sym typeface="Poppins"/>
              </a:rPr>
              <a:t>Core API Endpoints</a:t>
            </a:r>
            <a:endParaRPr lang="en-US" sz="1100"/>
          </a:p>
        </p:txBody>
      </p:sp>
      <p:sp>
        <p:nvSpPr>
          <p:cNvPr id="4" name="AutoShape 4"/>
          <p:cNvSpPr/>
          <p:nvPr/>
        </p:nvSpPr>
        <p:spPr>
          <a:xfrm>
            <a:off x="762000" y="1460500"/>
            <a:ext cx="5207000" cy="952500"/>
          </a:xfrm>
          <a:prstGeom prst="roundRect">
            <a:avLst>
              <a:gd name="adj" fmla="val 10666"/>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460500"/>
            <a:ext cx="76200" cy="9525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1400" y="1676400"/>
            <a:ext cx="508000" cy="508000"/>
          </a:xfrm>
          <a:prstGeom prst="rect">
            <a:avLst/>
          </a:prstGeom>
        </p:spPr>
      </p:pic>
      <p:sp>
        <p:nvSpPr>
          <p:cNvPr id="7" name="AutoShape 7"/>
          <p:cNvSpPr/>
          <p:nvPr/>
        </p:nvSpPr>
        <p:spPr>
          <a:xfrm>
            <a:off x="1778000" y="1587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E5FF"/>
                </a:solidFill>
                <a:latin typeface="Noto Sans SC"/>
                <a:ea typeface="Noto Sans SC"/>
                <a:cs typeface="Noto Sans SC"/>
                <a:sym typeface="Noto Sans SC"/>
              </a:rPr>
              <a:t>Auth ( /v1/auth )</a:t>
            </a:r>
            <a:endParaRPr lang="en-US" sz="1100"/>
          </a:p>
        </p:txBody>
      </p:sp>
      <p:sp>
        <p:nvSpPr>
          <p:cNvPr id="8" name="AutoShape 8"/>
          <p:cNvSpPr/>
          <p:nvPr/>
        </p:nvSpPr>
        <p:spPr>
          <a:xfrm>
            <a:off x="1778000" y="19304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BD5E1">
                    <a:alpha val="80000"/>
                  </a:srgbClr>
                </a:solidFill>
                <a:latin typeface="Noto Sans SC"/>
                <a:ea typeface="Noto Sans SC"/>
                <a:cs typeface="Noto Sans SC"/>
                <a:sym typeface="Noto Sans SC"/>
              </a:rPr>
              <a:t>POST /register | POST /login | GET /me</a:t>
            </a:r>
            <a:br>
              <a:rPr lang="en-US" sz="1100" b="0" i="0" u="none" strike="noStrike">
                <a:solidFill>
                  <a:srgbClr val="CBD5E1">
                    <a:alpha val="80000"/>
                  </a:srgbClr>
                </a:solidFill>
                <a:latin typeface="Noto Sans SC"/>
                <a:ea typeface="Noto Sans SC"/>
                <a:cs typeface="Noto Sans SC"/>
                <a:sym typeface="Noto Sans SC"/>
              </a:rPr>
            </a:br>
            <a:r>
              <a:rPr lang="en-US" sz="1100" b="0" i="0" u="none" strike="noStrike">
                <a:solidFill>
                  <a:srgbClr val="CBD5E1">
                    <a:alpha val="80000"/>
                  </a:srgbClr>
                </a:solidFill>
                <a:latin typeface="Noto Sans SC"/>
                <a:ea typeface="Noto Sans SC"/>
                <a:cs typeface="Noto Sans SC"/>
                <a:sym typeface="Noto Sans SC"/>
              </a:rPr>
              <a:t>Handles secure user authentication and profile management.</a:t>
            </a:r>
            <a:endParaRPr lang="en-US" sz="1100"/>
          </a:p>
        </p:txBody>
      </p:sp>
      <p:sp>
        <p:nvSpPr>
          <p:cNvPr id="9" name="AutoShape 9"/>
          <p:cNvSpPr/>
          <p:nvPr/>
        </p:nvSpPr>
        <p:spPr>
          <a:xfrm>
            <a:off x="762000" y="2540000"/>
            <a:ext cx="5207000" cy="952500"/>
          </a:xfrm>
          <a:prstGeom prst="roundRect">
            <a:avLst>
              <a:gd name="adj" fmla="val 10666"/>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762000" y="2540000"/>
            <a:ext cx="76200" cy="9525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1400" y="2755900"/>
            <a:ext cx="508000" cy="508000"/>
          </a:xfrm>
          <a:prstGeom prst="rect">
            <a:avLst/>
          </a:prstGeom>
        </p:spPr>
      </p:pic>
      <p:sp>
        <p:nvSpPr>
          <p:cNvPr id="12" name="AutoShape 12"/>
          <p:cNvSpPr/>
          <p:nvPr/>
        </p:nvSpPr>
        <p:spPr>
          <a:xfrm>
            <a:off x="1778000" y="2667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E5FF"/>
                </a:solidFill>
                <a:latin typeface="Noto Sans SC"/>
                <a:ea typeface="Noto Sans SC"/>
                <a:cs typeface="Noto Sans SC"/>
                <a:sym typeface="Noto Sans SC"/>
              </a:rPr>
              <a:t>Tracks ( /v1/tracks )</a:t>
            </a:r>
            <a:endParaRPr lang="en-US" sz="1100"/>
          </a:p>
        </p:txBody>
      </p:sp>
      <p:sp>
        <p:nvSpPr>
          <p:cNvPr id="13" name="AutoShape 13"/>
          <p:cNvSpPr/>
          <p:nvPr/>
        </p:nvSpPr>
        <p:spPr>
          <a:xfrm>
            <a:off x="1778000" y="30099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BD5E1">
                    <a:alpha val="80000"/>
                  </a:srgbClr>
                </a:solidFill>
                <a:latin typeface="Noto Sans SC"/>
                <a:ea typeface="Noto Sans SC"/>
                <a:cs typeface="Noto Sans SC"/>
                <a:sym typeface="Noto Sans SC"/>
              </a:rPr>
              <a:t>GET /tracks | GET /features/{id} | GET /similar/{id}</a:t>
            </a:r>
            <a:br>
              <a:rPr lang="en-US" sz="1100" b="0" i="0" u="none" strike="noStrike">
                <a:solidFill>
                  <a:srgbClr val="CBD5E1">
                    <a:alpha val="80000"/>
                  </a:srgbClr>
                </a:solidFill>
                <a:latin typeface="Noto Sans SC"/>
                <a:ea typeface="Noto Sans SC"/>
                <a:cs typeface="Noto Sans SC"/>
                <a:sym typeface="Noto Sans SC"/>
              </a:rPr>
            </a:br>
            <a:r>
              <a:rPr lang="en-US" sz="1100" b="0" i="0" u="none" strike="noStrike">
                <a:solidFill>
                  <a:srgbClr val="CBD5E1">
                    <a:alpha val="80000"/>
                  </a:srgbClr>
                </a:solidFill>
                <a:latin typeface="Noto Sans SC"/>
                <a:ea typeface="Noto Sans SC"/>
                <a:cs typeface="Noto Sans SC"/>
                <a:sym typeface="Noto Sans SC"/>
              </a:rPr>
              <a:t>Access detailed track metadata and similarity recommendations.</a:t>
            </a:r>
            <a:endParaRPr lang="en-US" sz="1100"/>
          </a:p>
        </p:txBody>
      </p:sp>
      <p:sp>
        <p:nvSpPr>
          <p:cNvPr id="14" name="AutoShape 14"/>
          <p:cNvSpPr/>
          <p:nvPr/>
        </p:nvSpPr>
        <p:spPr>
          <a:xfrm>
            <a:off x="762000" y="3619500"/>
            <a:ext cx="5207000" cy="952500"/>
          </a:xfrm>
          <a:prstGeom prst="roundRect">
            <a:avLst>
              <a:gd name="adj" fmla="val 10666"/>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5" name="AutoShape 15"/>
          <p:cNvSpPr/>
          <p:nvPr/>
        </p:nvSpPr>
        <p:spPr>
          <a:xfrm>
            <a:off x="762000" y="3619500"/>
            <a:ext cx="76200" cy="9525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1400" y="3835400"/>
            <a:ext cx="508000" cy="508000"/>
          </a:xfrm>
          <a:prstGeom prst="rect">
            <a:avLst/>
          </a:prstGeom>
        </p:spPr>
      </p:pic>
      <p:sp>
        <p:nvSpPr>
          <p:cNvPr id="17" name="AutoShape 17"/>
          <p:cNvSpPr/>
          <p:nvPr/>
        </p:nvSpPr>
        <p:spPr>
          <a:xfrm>
            <a:off x="1778000" y="3746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E5FF"/>
                </a:solidFill>
                <a:latin typeface="Noto Sans SC"/>
                <a:ea typeface="Noto Sans SC"/>
                <a:cs typeface="Noto Sans SC"/>
                <a:sym typeface="Noto Sans SC"/>
              </a:rPr>
              <a:t>Listening Records ( /v1/listening-records )</a:t>
            </a:r>
            <a:endParaRPr lang="en-US" sz="1100"/>
          </a:p>
        </p:txBody>
      </p:sp>
      <p:sp>
        <p:nvSpPr>
          <p:cNvPr id="18" name="AutoShape 18"/>
          <p:cNvSpPr/>
          <p:nvPr/>
        </p:nvSpPr>
        <p:spPr>
          <a:xfrm>
            <a:off x="1778000" y="40894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BD5E1">
                    <a:alpha val="80000"/>
                  </a:srgbClr>
                </a:solidFill>
                <a:latin typeface="Noto Sans SC"/>
                <a:ea typeface="Noto Sans SC"/>
                <a:cs typeface="Noto Sans SC"/>
                <a:sym typeface="Noto Sans SC"/>
              </a:rPr>
              <a:t>Full CRUD Operations (POST / GET / PUT / DELETE)</a:t>
            </a:r>
            <a:br>
              <a:rPr lang="en-US" sz="1100" b="0" i="0" u="none" strike="noStrike">
                <a:solidFill>
                  <a:srgbClr val="CBD5E1">
                    <a:alpha val="80000"/>
                  </a:srgbClr>
                </a:solidFill>
                <a:latin typeface="Noto Sans SC"/>
                <a:ea typeface="Noto Sans SC"/>
                <a:cs typeface="Noto Sans SC"/>
                <a:sym typeface="Noto Sans SC"/>
              </a:rPr>
            </a:br>
            <a:r>
              <a:rPr lang="en-US" sz="1100" b="0" i="0" u="none" strike="noStrike">
                <a:solidFill>
                  <a:srgbClr val="CBD5E1">
                    <a:alpha val="80000"/>
                  </a:srgbClr>
                </a:solidFill>
                <a:latin typeface="Noto Sans SC"/>
                <a:ea typeface="Noto Sans SC"/>
                <a:cs typeface="Noto Sans SC"/>
                <a:sym typeface="Noto Sans SC"/>
              </a:rPr>
              <a:t>Manage the complete history of user listening activity.</a:t>
            </a:r>
            <a:endParaRPr lang="en-US" sz="1100"/>
          </a:p>
        </p:txBody>
      </p:sp>
      <p:sp>
        <p:nvSpPr>
          <p:cNvPr id="19" name="AutoShape 19"/>
          <p:cNvSpPr/>
          <p:nvPr/>
        </p:nvSpPr>
        <p:spPr>
          <a:xfrm>
            <a:off x="762000" y="4699000"/>
            <a:ext cx="5207000" cy="952500"/>
          </a:xfrm>
          <a:prstGeom prst="roundRect">
            <a:avLst>
              <a:gd name="adj" fmla="val 10666"/>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20" name="AutoShape 20"/>
          <p:cNvSpPr/>
          <p:nvPr/>
        </p:nvSpPr>
        <p:spPr>
          <a:xfrm>
            <a:off x="762000" y="4699000"/>
            <a:ext cx="76200" cy="9525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1400" y="4914900"/>
            <a:ext cx="508000" cy="508000"/>
          </a:xfrm>
          <a:prstGeom prst="rect">
            <a:avLst/>
          </a:prstGeom>
        </p:spPr>
      </p:pic>
      <p:sp>
        <p:nvSpPr>
          <p:cNvPr id="22" name="AutoShape 22"/>
          <p:cNvSpPr/>
          <p:nvPr/>
        </p:nvSpPr>
        <p:spPr>
          <a:xfrm>
            <a:off x="1778000" y="4826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E5FF"/>
                </a:solidFill>
                <a:latin typeface="Noto Sans SC"/>
                <a:ea typeface="Noto Sans SC"/>
                <a:cs typeface="Noto Sans SC"/>
                <a:sym typeface="Noto Sans SC"/>
              </a:rPr>
              <a:t>Insights ( /v1/users/me/insights )</a:t>
            </a:r>
            <a:endParaRPr lang="en-US" sz="1100"/>
          </a:p>
        </p:txBody>
      </p:sp>
      <p:sp>
        <p:nvSpPr>
          <p:cNvPr id="23" name="AutoShape 23"/>
          <p:cNvSpPr/>
          <p:nvPr/>
        </p:nvSpPr>
        <p:spPr>
          <a:xfrm>
            <a:off x="1778000" y="5168900"/>
            <a:ext cx="3937000" cy="44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BD5E1">
                    <a:alpha val="80000"/>
                  </a:srgbClr>
                </a:solidFill>
                <a:latin typeface="Noto Sans SC"/>
                <a:ea typeface="Noto Sans SC"/>
                <a:cs typeface="Noto Sans SC"/>
                <a:sym typeface="Noto Sans SC"/>
              </a:rPr>
              <a:t>GET Request Only</a:t>
            </a:r>
            <a:br>
              <a:rPr lang="en-US" sz="1100" b="0" i="0" u="none" strike="noStrike">
                <a:solidFill>
                  <a:srgbClr val="CBD5E1">
                    <a:alpha val="80000"/>
                  </a:srgbClr>
                </a:solidFill>
                <a:latin typeface="Noto Sans SC"/>
                <a:ea typeface="Noto Sans SC"/>
                <a:cs typeface="Noto Sans SC"/>
                <a:sym typeface="Noto Sans SC"/>
              </a:rPr>
            </a:br>
            <a:r>
              <a:rPr lang="en-US" sz="1100" b="0" i="0" u="none" strike="noStrike">
                <a:solidFill>
                  <a:srgbClr val="CBD5E1">
                    <a:alpha val="80000"/>
                  </a:srgbClr>
                </a:solidFill>
                <a:latin typeface="Noto Sans SC"/>
                <a:ea typeface="Noto Sans SC"/>
                <a:cs typeface="Noto Sans SC"/>
                <a:sym typeface="Noto Sans SC"/>
              </a:rPr>
              <a:t>Retrieve AI-generated personalized preference profiles.</a:t>
            </a:r>
            <a:endParaRPr lang="en-US" sz="1100"/>
          </a:p>
        </p:txBody>
      </p:sp>
      <p:sp>
        <p:nvSpPr>
          <p:cNvPr id="24" name="AutoShape 24"/>
          <p:cNvSpPr/>
          <p:nvPr/>
        </p:nvSpPr>
        <p:spPr>
          <a:xfrm>
            <a:off x="762000" y="5778500"/>
            <a:ext cx="5207000" cy="825500"/>
          </a:xfrm>
          <a:prstGeom prst="roundRect">
            <a:avLst>
              <a:gd name="adj" fmla="val 12307"/>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25" name="AutoShape 25"/>
          <p:cNvSpPr/>
          <p:nvPr/>
        </p:nvSpPr>
        <p:spPr>
          <a:xfrm>
            <a:off x="762000" y="5778500"/>
            <a:ext cx="76200" cy="8255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1400" y="5930900"/>
            <a:ext cx="508000" cy="508000"/>
          </a:xfrm>
          <a:prstGeom prst="rect">
            <a:avLst/>
          </a:prstGeom>
        </p:spPr>
      </p:pic>
      <p:sp>
        <p:nvSpPr>
          <p:cNvPr id="27" name="AutoShape 27"/>
          <p:cNvSpPr/>
          <p:nvPr/>
        </p:nvSpPr>
        <p:spPr>
          <a:xfrm>
            <a:off x="1778000" y="5842000"/>
            <a:ext cx="4064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E5FF"/>
                </a:solidFill>
                <a:latin typeface="Noto Sans SC"/>
                <a:ea typeface="Noto Sans SC"/>
                <a:cs typeface="Noto Sans SC"/>
                <a:sym typeface="Noto Sans SC"/>
              </a:rPr>
              <a:t>Analytics ( /v1/analytics/... )</a:t>
            </a:r>
            <a:endParaRPr lang="en-US" sz="1100"/>
          </a:p>
        </p:txBody>
      </p:sp>
      <p:sp>
        <p:nvSpPr>
          <p:cNvPr id="28" name="AutoShape 28"/>
          <p:cNvSpPr/>
          <p:nvPr/>
        </p:nvSpPr>
        <p:spPr>
          <a:xfrm>
            <a:off x="1778000" y="6134100"/>
            <a:ext cx="3937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alpha val="80000"/>
                  </a:srgbClr>
                </a:solidFill>
                <a:latin typeface="Noto Sans SC"/>
                <a:ea typeface="Noto Sans SC"/>
                <a:cs typeface="Noto Sans SC"/>
                <a:sym typeface="Noto Sans SC"/>
              </a:rPr>
              <a:t>Obtain global music feature distribution statistics.</a:t>
            </a:r>
            <a:endParaRPr lang="en-US" sz="1100"/>
          </a:p>
        </p:txBody>
      </p:sp>
      <p:sp>
        <p:nvSpPr>
          <p:cNvPr id="29" name="AutoShape 29"/>
          <p:cNvSpPr/>
          <p:nvPr/>
        </p:nvSpPr>
        <p:spPr>
          <a:xfrm>
            <a:off x="6223000" y="1460500"/>
            <a:ext cx="5207000" cy="5143500"/>
          </a:xfrm>
          <a:prstGeom prst="roundRect">
            <a:avLst>
              <a:gd name="adj" fmla="val 2962"/>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30" name="AutoShape 30"/>
          <p:cNvSpPr/>
          <p:nvPr/>
        </p:nvSpPr>
        <p:spPr>
          <a:xfrm>
            <a:off x="6477000" y="1651000"/>
            <a:ext cx="4699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E5FF"/>
                </a:solidFill>
                <a:latin typeface="Noto Sans SC"/>
                <a:ea typeface="Noto Sans SC"/>
                <a:cs typeface="Noto Sans SC"/>
                <a:sym typeface="Noto Sans SC"/>
              </a:rPr>
              <a:t>▍ Example API Request</a:t>
            </a:r>
            <a:endParaRPr lang="en-US" sz="1100"/>
          </a:p>
        </p:txBody>
      </p:sp>
      <p:sp>
        <p:nvSpPr>
          <p:cNvPr id="31" name="AutoShape 31"/>
          <p:cNvSpPr/>
          <p:nvPr/>
        </p:nvSpPr>
        <p:spPr>
          <a:xfrm>
            <a:off x="6477000" y="2095500"/>
            <a:ext cx="4699000" cy="1079500"/>
          </a:xfrm>
          <a:prstGeom prst="roundRect">
            <a:avLst>
              <a:gd name="adj" fmla="val 9411"/>
            </a:avLst>
          </a:prstGeom>
          <a:solidFill>
            <a:srgbClr val="F5F5F5">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2" name="AutoShape 32"/>
          <p:cNvSpPr/>
          <p:nvPr/>
        </p:nvSpPr>
        <p:spPr>
          <a:xfrm>
            <a:off x="6667500" y="22225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F2329"/>
                </a:solidFill>
                <a:latin typeface="Noto Sans SC"/>
                <a:ea typeface="Noto Sans SC"/>
                <a:cs typeface="Noto Sans SC"/>
                <a:sym typeface="Noto Sans SC"/>
              </a:rPr>
              <a:t>GET /v1/tracks/similar/123</a:t>
            </a:r>
            <a:endParaRPr lang="en-US" sz="1100"/>
          </a:p>
        </p:txBody>
      </p:sp>
      <p:sp>
        <p:nvSpPr>
          <p:cNvPr id="33" name="AutoShape 33"/>
          <p:cNvSpPr/>
          <p:nvPr/>
        </p:nvSpPr>
        <p:spPr>
          <a:xfrm>
            <a:off x="6667500" y="2603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94A3B8"/>
                </a:solidFill>
                <a:latin typeface="Noto Sans SC"/>
                <a:ea typeface="Noto Sans SC"/>
                <a:cs typeface="Noto Sans SC"/>
                <a:sym typeface="Noto Sans SC"/>
              </a:rPr>
              <a:t>Headers: Authorization: Bearer {JWT_TOKEN}</a:t>
            </a:r>
            <a:br>
              <a:rPr lang="en-US" sz="1100" b="0" i="0" u="none" strike="noStrike">
                <a:solidFill>
                  <a:srgbClr val="94A3B8"/>
                </a:solidFill>
                <a:latin typeface="Noto Sans SC"/>
                <a:ea typeface="Noto Sans SC"/>
                <a:cs typeface="Noto Sans SC"/>
                <a:sym typeface="Noto Sans SC"/>
              </a:rPr>
            </a:br>
            <a:r>
              <a:rPr lang="en-US" sz="1100" b="0" i="0" u="none" strike="noStrike">
                <a:solidFill>
                  <a:srgbClr val="94A3B8"/>
                </a:solidFill>
                <a:latin typeface="Noto Sans SC"/>
                <a:ea typeface="Noto Sans SC"/>
                <a:cs typeface="Noto Sans SC"/>
                <a:sym typeface="Noto Sans SC"/>
              </a:rPr>
              <a:t>Purpose: Fetch songs similar to track ID 123.</a:t>
            </a:r>
            <a:endParaRPr lang="en-US" sz="1100"/>
          </a:p>
        </p:txBody>
      </p:sp>
      <p:sp>
        <p:nvSpPr>
          <p:cNvPr id="34" name="AutoShape 34"/>
          <p:cNvSpPr/>
          <p:nvPr/>
        </p:nvSpPr>
        <p:spPr>
          <a:xfrm>
            <a:off x="6477000" y="3429000"/>
            <a:ext cx="4699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E5FF"/>
                </a:solidFill>
                <a:latin typeface="Noto Sans SC"/>
                <a:ea typeface="Noto Sans SC"/>
                <a:cs typeface="Noto Sans SC"/>
                <a:sym typeface="Noto Sans SC"/>
              </a:rPr>
              <a:t>▍ 200 OK Response (JSON)</a:t>
            </a:r>
            <a:endParaRPr lang="en-US" sz="1100"/>
          </a:p>
        </p:txBody>
      </p:sp>
      <p:sp>
        <p:nvSpPr>
          <p:cNvPr id="35" name="AutoShape 35"/>
          <p:cNvSpPr/>
          <p:nvPr/>
        </p:nvSpPr>
        <p:spPr>
          <a:xfrm>
            <a:off x="6477000" y="3937000"/>
            <a:ext cx="4699000" cy="1905000"/>
          </a:xfrm>
          <a:prstGeom prst="roundRect">
            <a:avLst>
              <a:gd name="adj" fmla="val 5333"/>
            </a:avLst>
          </a:prstGeom>
          <a:solidFill>
            <a:srgbClr val="F5F5F5">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36" name="AutoShape 36"/>
          <p:cNvSpPr/>
          <p:nvPr/>
        </p:nvSpPr>
        <p:spPr>
          <a:xfrm>
            <a:off x="6667500" y="4064000"/>
            <a:ext cx="4318000" cy="1651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100" b="0" i="0" u="none" strike="noStrike">
                <a:solidFill>
                  <a:srgbClr val="10B981"/>
                </a:solidFill>
                <a:latin typeface="Consolas"/>
                <a:ea typeface="Consolas"/>
                <a:cs typeface="Consolas"/>
                <a:sym typeface="Consolas"/>
              </a:rPr>
              <a:t>{</a:t>
            </a:r>
            <a:endParaRPr lang="en-US" sz="1100"/>
          </a:p>
          <a:p>
            <a:pPr indent="0" algn="l">
              <a:lnSpc>
                <a:spcPct val="108333"/>
              </a:lnSpc>
            </a:pPr>
            <a:r>
              <a:rPr lang="en-US" sz="1100" b="0" i="0" u="none" strike="noStrike">
                <a:solidFill>
                  <a:srgbClr val="475569"/>
                </a:solidFill>
                <a:latin typeface="Consolas"/>
                <a:ea typeface="Consolas"/>
                <a:cs typeface="Consolas"/>
                <a:sym typeface="Consolas"/>
              </a:rPr>
              <a:t>"track_id": 123,</a:t>
            </a:r>
          </a:p>
          <a:p>
            <a:pPr indent="0" algn="l">
              <a:lnSpc>
                <a:spcPct val="108333"/>
              </a:lnSpc>
            </a:pPr>
            <a:r>
              <a:rPr lang="en-US" sz="1100" b="0" i="0" u="none" strike="noStrike">
                <a:solidFill>
                  <a:srgbClr val="475569"/>
                </a:solidFill>
                <a:latin typeface="Consolas"/>
                <a:ea typeface="Consolas"/>
                <a:cs typeface="Consolas"/>
                <a:sym typeface="Consolas"/>
              </a:rPr>
              <a:t>"similar_tracks": [</a:t>
            </a:r>
          </a:p>
          <a:p>
            <a:pPr indent="0" algn="l">
              <a:lnSpc>
                <a:spcPct val="108333"/>
              </a:lnSpc>
            </a:pPr>
            <a:r>
              <a:rPr lang="en-US" sz="1100" b="0" i="0" u="none" strike="noStrike">
                <a:solidFill>
                  <a:srgbClr val="1F2329"/>
                </a:solidFill>
                <a:latin typeface="Consolas"/>
                <a:ea typeface="Consolas"/>
                <a:cs typeface="Consolas"/>
                <a:sym typeface="Consolas"/>
              </a:rPr>
              <a:t>{ "id": 456, "name": "Song A", "score": 0.92 },</a:t>
            </a:r>
          </a:p>
          <a:p>
            <a:pPr indent="0" algn="l">
              <a:lnSpc>
                <a:spcPct val="108333"/>
              </a:lnSpc>
            </a:pPr>
            <a:r>
              <a:rPr lang="en-US" sz="1100" b="0" i="0" u="none" strike="noStrike">
                <a:solidFill>
                  <a:srgbClr val="1F2329"/>
                </a:solidFill>
                <a:latin typeface="Consolas"/>
                <a:ea typeface="Consolas"/>
                <a:cs typeface="Consolas"/>
                <a:sym typeface="Consolas"/>
              </a:rPr>
              <a:t>{ "id": 789, "name": "Song B", "score": 0.87 }</a:t>
            </a:r>
          </a:p>
          <a:p>
            <a:pPr indent="0" algn="l">
              <a:lnSpc>
                <a:spcPct val="108333"/>
              </a:lnSpc>
            </a:pPr>
            <a:r>
              <a:rPr lang="en-US" sz="1100" b="0" i="0" u="none" strike="noStrike">
                <a:solidFill>
                  <a:srgbClr val="475569"/>
                </a:solidFill>
                <a:latin typeface="Consolas"/>
                <a:ea typeface="Consolas"/>
                <a:cs typeface="Consolas"/>
                <a:sym typeface="Consolas"/>
              </a:rPr>
              <a:t>]</a:t>
            </a:r>
          </a:p>
          <a:p>
            <a:pPr indent="0" algn="l">
              <a:lnSpc>
                <a:spcPct val="108333"/>
              </a:lnSpc>
            </a:pPr>
            <a:r>
              <a:rPr lang="en-US" sz="1100" b="0" i="0" u="none" strike="noStrike">
                <a:solidFill>
                  <a:srgbClr val="10B981"/>
                </a:solidFill>
                <a:latin typeface="Consolas"/>
                <a:ea typeface="Consolas"/>
                <a:cs typeface="Consolas"/>
                <a:sym typeface="Consola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Similarity &amp; Insight Logic (High Score Point)</a:t>
            </a:r>
            <a:endParaRPr lang="en-US" sz="1100"/>
          </a:p>
        </p:txBody>
      </p:sp>
      <p:sp>
        <p:nvSpPr>
          <p:cNvPr id="4" name="AutoShape 4"/>
          <p:cNvSpPr/>
          <p:nvPr/>
        </p:nvSpPr>
        <p:spPr>
          <a:xfrm>
            <a:off x="762000" y="1524000"/>
            <a:ext cx="5334000" cy="1397000"/>
          </a:xfrm>
          <a:prstGeom prst="roundRect">
            <a:avLst>
              <a:gd name="adj" fmla="val 9090"/>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1016000" y="1651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563EB"/>
                </a:solidFill>
                <a:latin typeface="Poppins"/>
                <a:ea typeface="Poppins"/>
                <a:cs typeface="Poppins"/>
                <a:sym typeface="Poppins"/>
              </a:rPr>
              <a:t>01. Similarity Calculation</a:t>
            </a:r>
            <a:endParaRPr lang="en-US" sz="1100"/>
          </a:p>
        </p:txBody>
      </p:sp>
      <p:sp>
        <p:nvSpPr>
          <p:cNvPr id="6" name="AutoShape 6"/>
          <p:cNvSpPr/>
          <p:nvPr/>
        </p:nvSpPr>
        <p:spPr>
          <a:xfrm>
            <a:off x="1016000" y="2032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333333"/>
                </a:solidFill>
                <a:latin typeface="Poppins"/>
                <a:ea typeface="Poppins"/>
                <a:cs typeface="Poppins"/>
                <a:sym typeface="Poppins"/>
              </a:rPr>
              <a:t>Method: Cosine Similarity (Vector Dot Product).</a:t>
            </a:r>
            <a:br>
              <a:rPr lang="en-US" sz="1100" b="0" i="0" u="none" strike="noStrike">
                <a:solidFill>
                  <a:srgbClr val="333333"/>
                </a:solidFill>
                <a:latin typeface="Poppins"/>
                <a:ea typeface="Poppins"/>
                <a:cs typeface="Poppins"/>
                <a:sym typeface="Poppins"/>
              </a:rPr>
            </a:br>
            <a:r>
              <a:rPr lang="en-US" sz="1100" b="0" i="0" u="none" strike="noStrike">
                <a:solidFill>
                  <a:srgbClr val="333333"/>
                </a:solidFill>
                <a:latin typeface="Poppins"/>
                <a:ea typeface="Poppins"/>
                <a:cs typeface="Poppins"/>
                <a:sym typeface="Poppins"/>
              </a:rPr>
              <a:t>Formula:</a:t>
            </a:r>
            <a:r>
              <a:rPr lang="en-US" sz="1100" b="1" i="0" u="none" strike="noStrike">
                <a:solidFill>
                  <a:srgbClr val="333333"/>
                </a:solidFill>
                <a:latin typeface="Poppins"/>
                <a:ea typeface="Poppins"/>
                <a:cs typeface="Poppins"/>
                <a:sym typeface="Poppins"/>
              </a:rPr>
              <a:t>cos(θ) = (A · B) / (||A|| ||B||)</a:t>
            </a:r>
            <a:br>
              <a:rPr lang="en-US" sz="1100" b="0" i="0" u="none" strike="noStrike">
                <a:solidFill>
                  <a:srgbClr val="333333"/>
                </a:solidFill>
                <a:latin typeface="Poppins"/>
                <a:ea typeface="Poppins"/>
                <a:cs typeface="Poppins"/>
                <a:sym typeface="Poppins"/>
              </a:rPr>
            </a:br>
            <a:r>
              <a:rPr lang="en-US" sz="1100" b="0" i="0" u="none" strike="noStrike">
                <a:solidFill>
                  <a:srgbClr val="333333"/>
                </a:solidFill>
                <a:latin typeface="Poppins"/>
                <a:ea typeface="Poppins"/>
                <a:cs typeface="Poppins"/>
                <a:sym typeface="Poppins"/>
              </a:rPr>
              <a:t>Process: Extract track vectors &amp; find closest matches in dataset.</a:t>
            </a:r>
            <a:endParaRPr lang="en-US" sz="1100"/>
          </a:p>
        </p:txBody>
      </p:sp>
      <p:sp>
        <p:nvSpPr>
          <p:cNvPr id="7" name="AutoShape 7"/>
          <p:cNvSpPr/>
          <p:nvPr/>
        </p:nvSpPr>
        <p:spPr>
          <a:xfrm>
            <a:off x="762000" y="3175000"/>
            <a:ext cx="5334000" cy="1397000"/>
          </a:xfrm>
          <a:prstGeom prst="roundRect">
            <a:avLst>
              <a:gd name="adj" fmla="val 9090"/>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1016000" y="3302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563EB"/>
                </a:solidFill>
                <a:latin typeface="Poppins"/>
                <a:ea typeface="Poppins"/>
                <a:cs typeface="Poppins"/>
                <a:sym typeface="Poppins"/>
              </a:rPr>
              <a:t>02. User Preference Profile</a:t>
            </a:r>
            <a:endParaRPr lang="en-US" sz="1100"/>
          </a:p>
        </p:txBody>
      </p:sp>
      <p:sp>
        <p:nvSpPr>
          <p:cNvPr id="9" name="AutoShape 9"/>
          <p:cNvSpPr/>
          <p:nvPr/>
        </p:nvSpPr>
        <p:spPr>
          <a:xfrm>
            <a:off x="1016000" y="3683000"/>
            <a:ext cx="4826000" cy="8255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333333"/>
                </a:solidFill>
                <a:latin typeface="Poppins"/>
                <a:ea typeface="Poppins"/>
                <a:cs typeface="Poppins"/>
                <a:sym typeface="Poppins"/>
              </a:rPr>
              <a:t>Method: Aggregation of Listening Records.</a:t>
            </a:r>
            <a:br>
              <a:rPr lang="en-US" sz="1100" b="0" i="0" u="none" strike="noStrike">
                <a:solidFill>
                  <a:srgbClr val="333333"/>
                </a:solidFill>
                <a:latin typeface="Poppins"/>
                <a:ea typeface="Poppins"/>
                <a:cs typeface="Poppins"/>
                <a:sym typeface="Poppins"/>
              </a:rPr>
            </a:br>
            <a:r>
              <a:rPr lang="en-US" sz="1100" b="0" i="0" u="none" strike="noStrike">
                <a:solidFill>
                  <a:srgbClr val="333333"/>
                </a:solidFill>
                <a:latin typeface="Poppins"/>
                <a:ea typeface="Poppins"/>
                <a:cs typeface="Poppins"/>
                <a:sym typeface="Poppins"/>
              </a:rPr>
              <a:t>Process: Calculates avg.</a:t>
            </a:r>
            <a:r>
              <a:rPr lang="en-US" sz="1100" b="1" i="0" u="none" strike="noStrike">
                <a:solidFill>
                  <a:srgbClr val="333333"/>
                </a:solidFill>
                <a:latin typeface="Poppins"/>
                <a:ea typeface="Poppins"/>
                <a:cs typeface="Poppins"/>
                <a:sym typeface="Poppins"/>
              </a:rPr>
              <a:t>Tempo</a:t>
            </a:r>
            <a:r>
              <a:rPr lang="en-US" sz="1100" b="0" i="0" u="none" strike="noStrike">
                <a:solidFill>
                  <a:srgbClr val="333333"/>
                </a:solidFill>
                <a:latin typeface="Poppins"/>
                <a:ea typeface="Poppins"/>
                <a:cs typeface="Poppins"/>
                <a:sym typeface="Poppins"/>
              </a:rPr>
              <a:t>,</a:t>
            </a:r>
            <a:r>
              <a:rPr lang="en-US" sz="1100" b="1" i="0" u="none" strike="noStrike">
                <a:solidFill>
                  <a:srgbClr val="333333"/>
                </a:solidFill>
                <a:latin typeface="Poppins"/>
                <a:ea typeface="Poppins"/>
                <a:cs typeface="Poppins"/>
                <a:sym typeface="Poppins"/>
              </a:rPr>
              <a:t>Energy</a:t>
            </a:r>
            <a:r>
              <a:rPr lang="en-US" sz="1100" b="0" i="0" u="none" strike="noStrike">
                <a:solidFill>
                  <a:srgbClr val="333333"/>
                </a:solidFill>
                <a:latin typeface="Poppins"/>
                <a:ea typeface="Poppins"/>
                <a:cs typeface="Poppins"/>
                <a:sym typeface="Poppins"/>
              </a:rPr>
              <a:t>&amp;</a:t>
            </a:r>
            <a:r>
              <a:rPr lang="en-US" sz="1100" b="1" i="0" u="none" strike="noStrike">
                <a:solidFill>
                  <a:srgbClr val="333333"/>
                </a:solidFill>
                <a:latin typeface="Poppins"/>
                <a:ea typeface="Poppins"/>
                <a:cs typeface="Poppins"/>
                <a:sym typeface="Poppins"/>
              </a:rPr>
              <a:t>Danceability</a:t>
            </a:r>
            <a:r>
              <a:rPr lang="en-US" sz="1100" b="0" i="0" u="none" strike="noStrike">
                <a:solidFill>
                  <a:srgbClr val="333333"/>
                </a:solidFill>
                <a:latin typeface="Poppins"/>
                <a:ea typeface="Poppins"/>
                <a:cs typeface="Poppins"/>
                <a:sym typeface="Poppins"/>
              </a:rPr>
              <a:t>from liked tracks to build an interpretable profile.</a:t>
            </a:r>
            <a:endParaRPr lang="en-US" sz="1100"/>
          </a:p>
        </p:txBody>
      </p:sp>
      <p:sp>
        <p:nvSpPr>
          <p:cNvPr id="10" name="AutoShape 10"/>
          <p:cNvSpPr/>
          <p:nvPr/>
        </p:nvSpPr>
        <p:spPr>
          <a:xfrm>
            <a:off x="762000" y="4826000"/>
            <a:ext cx="5334000" cy="1270000"/>
          </a:xfrm>
          <a:prstGeom prst="roundRect">
            <a:avLst>
              <a:gd name="adj" fmla="val 10000"/>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1016000" y="4953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563EB"/>
                </a:solidFill>
                <a:latin typeface="Poppins"/>
                <a:ea typeface="Poppins"/>
                <a:cs typeface="Poppins"/>
                <a:sym typeface="Poppins"/>
              </a:rPr>
              <a:t>03. Core System Advantage</a:t>
            </a:r>
            <a:endParaRPr lang="en-US" sz="1100"/>
          </a:p>
        </p:txBody>
      </p:sp>
      <p:sp>
        <p:nvSpPr>
          <p:cNvPr id="12" name="AutoShape 12"/>
          <p:cNvSpPr/>
          <p:nvPr/>
        </p:nvSpPr>
        <p:spPr>
          <a:xfrm>
            <a:off x="1016000" y="5334000"/>
            <a:ext cx="4826000" cy="635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333333"/>
                </a:solidFill>
                <a:latin typeface="Poppins"/>
                <a:ea typeface="Poppins"/>
                <a:cs typeface="Poppins"/>
                <a:sym typeface="Poppins"/>
              </a:rPr>
              <a:t>Logic is</a:t>
            </a:r>
            <a:r>
              <a:rPr lang="en-US" sz="1100" b="1" i="0" u="none" strike="noStrike">
                <a:solidFill>
                  <a:srgbClr val="2563EB"/>
                </a:solidFill>
                <a:latin typeface="Poppins"/>
                <a:ea typeface="Poppins"/>
                <a:cs typeface="Poppins"/>
                <a:sym typeface="Poppins"/>
              </a:rPr>
              <a:t>interpretable, reproducible &amp; low-latency</a:t>
            </a:r>
            <a:r>
              <a:rPr lang="en-US" sz="1100" b="0" i="0" u="none" strike="noStrike">
                <a:solidFill>
                  <a:srgbClr val="333333"/>
                </a:solidFill>
                <a:latin typeface="Poppins"/>
                <a:ea typeface="Poppins"/>
                <a:cs typeface="Poppins"/>
                <a:sym typeface="Poppins"/>
              </a:rPr>
              <a:t>. Avoids the "black box" nature of complex LLMs.</a:t>
            </a:r>
            <a:endParaRPr lang="en-US" sz="1100"/>
          </a:p>
        </p:txBody>
      </p:sp>
      <p:pic>
        <p:nvPicPr>
          <p:cNvPr id="13" name="Picture 13"/>
          <p:cNvPicPr>
            <a:picLocks noChangeAspect="1"/>
          </p:cNvPicPr>
          <p:nvPr/>
        </p:nvPicPr>
        <p:blipFill>
          <a:blip r:embed="rId4"/>
          <a:srcRect t="10000" b="10000"/>
          <a:stretch>
            <a:fillRect/>
          </a:stretch>
        </p:blipFill>
        <p:spPr>
          <a:xfrm>
            <a:off x="6350000" y="1524000"/>
            <a:ext cx="5080000" cy="2286000"/>
          </a:xfrm>
          <a:prstGeom prst="roundRect">
            <a:avLst>
              <a:gd name="adj" fmla="val 5555"/>
            </a:avLst>
          </a:prstGeom>
          <a:noFill/>
          <a:ln w="25400" cap="flat" cmpd="sng">
            <a:noFill/>
            <a:prstDash val="solid"/>
            <a:round/>
          </a:ln>
          <a:effectLst>
            <a:outerShdw blurRad="190500" dir="2700000" algn="tl" rotWithShape="0">
              <a:srgbClr val="000000">
                <a:alpha val="10000"/>
              </a:srgbClr>
            </a:outerShdw>
          </a:effectLst>
        </p:spPr>
      </p:pic>
      <p:sp>
        <p:nvSpPr>
          <p:cNvPr id="14" name="AutoShape 14"/>
          <p:cNvSpPr/>
          <p:nvPr/>
        </p:nvSpPr>
        <p:spPr>
          <a:xfrm>
            <a:off x="6350000" y="4064000"/>
            <a:ext cx="5080000" cy="2032000"/>
          </a:xfrm>
          <a:prstGeom prst="roundRect">
            <a:avLst>
              <a:gd name="adj" fmla="val 6250"/>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5" name="AutoShape 15"/>
          <p:cNvSpPr/>
          <p:nvPr/>
        </p:nvSpPr>
        <p:spPr>
          <a:xfrm>
            <a:off x="6540500" y="4191000"/>
            <a:ext cx="4699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Poppins"/>
                <a:ea typeface="Poppins"/>
                <a:cs typeface="Poppins"/>
                <a:sym typeface="Poppins"/>
              </a:rPr>
              <a:t>Intelligence Processing Flow</a:t>
            </a:r>
            <a:endParaRPr lang="en-US" sz="1100"/>
          </a:p>
        </p:txBody>
      </p:sp>
      <p:sp>
        <p:nvSpPr>
          <p:cNvPr id="16" name="AutoShape 16"/>
          <p:cNvSpPr/>
          <p:nvPr/>
        </p:nvSpPr>
        <p:spPr>
          <a:xfrm>
            <a:off x="6540500" y="4699000"/>
            <a:ext cx="1016000" cy="889000"/>
          </a:xfrm>
          <a:prstGeom prst="roundRect">
            <a:avLst>
              <a:gd name="adj" fmla="val 8571"/>
            </a:avLst>
          </a:prstGeom>
          <a:solidFill>
            <a:srgbClr val="2563EB">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94500" y="4826000"/>
            <a:ext cx="304800" cy="304800"/>
          </a:xfrm>
          <a:prstGeom prst="rect">
            <a:avLst/>
          </a:prstGeom>
        </p:spPr>
      </p:pic>
      <p:sp>
        <p:nvSpPr>
          <p:cNvPr id="18" name="AutoShape 18"/>
          <p:cNvSpPr/>
          <p:nvPr/>
        </p:nvSpPr>
        <p:spPr>
          <a:xfrm>
            <a:off x="6540500" y="5207000"/>
            <a:ext cx="101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333333"/>
                </a:solidFill>
                <a:latin typeface="Poppins"/>
                <a:ea typeface="Poppins"/>
                <a:cs typeface="Poppins"/>
                <a:sym typeface="Poppins"/>
              </a:rPr>
              <a:t>User Action</a:t>
            </a:r>
            <a:endParaRPr lang="en-US" sz="1100"/>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0" y="4953000"/>
            <a:ext cx="254000" cy="254000"/>
          </a:xfrm>
          <a:prstGeom prst="rect">
            <a:avLst/>
          </a:prstGeom>
        </p:spPr>
      </p:pic>
      <p:sp>
        <p:nvSpPr>
          <p:cNvPr id="20" name="AutoShape 20"/>
          <p:cNvSpPr/>
          <p:nvPr/>
        </p:nvSpPr>
        <p:spPr>
          <a:xfrm>
            <a:off x="7937500" y="4699000"/>
            <a:ext cx="1016000" cy="889000"/>
          </a:xfrm>
          <a:prstGeom prst="roundRect">
            <a:avLst>
              <a:gd name="adj" fmla="val 8571"/>
            </a:avLst>
          </a:prstGeom>
          <a:solidFill>
            <a:srgbClr val="2563EB">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4826000"/>
            <a:ext cx="304800" cy="304800"/>
          </a:xfrm>
          <a:prstGeom prst="rect">
            <a:avLst/>
          </a:prstGeom>
        </p:spPr>
      </p:pic>
      <p:sp>
        <p:nvSpPr>
          <p:cNvPr id="22" name="AutoShape 22"/>
          <p:cNvSpPr/>
          <p:nvPr/>
        </p:nvSpPr>
        <p:spPr>
          <a:xfrm>
            <a:off x="7937500" y="5207000"/>
            <a:ext cx="101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333333"/>
                </a:solidFill>
                <a:latin typeface="Poppins"/>
                <a:ea typeface="Poppins"/>
                <a:cs typeface="Poppins"/>
                <a:sym typeface="Poppins"/>
              </a:rPr>
              <a:t>Data Agg.</a:t>
            </a:r>
            <a:endParaRPr lang="en-US" sz="1100"/>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17000" y="4953000"/>
            <a:ext cx="254000" cy="254000"/>
          </a:xfrm>
          <a:prstGeom prst="rect">
            <a:avLst/>
          </a:prstGeom>
        </p:spPr>
      </p:pic>
      <p:sp>
        <p:nvSpPr>
          <p:cNvPr id="24" name="AutoShape 24"/>
          <p:cNvSpPr/>
          <p:nvPr/>
        </p:nvSpPr>
        <p:spPr>
          <a:xfrm>
            <a:off x="9334500" y="4699000"/>
            <a:ext cx="1016000" cy="889000"/>
          </a:xfrm>
          <a:prstGeom prst="roundRect">
            <a:avLst>
              <a:gd name="adj" fmla="val 8571"/>
            </a:avLst>
          </a:prstGeom>
          <a:solidFill>
            <a:srgbClr val="2563EB">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88500" y="4826000"/>
            <a:ext cx="304800" cy="304800"/>
          </a:xfrm>
          <a:prstGeom prst="rect">
            <a:avLst/>
          </a:prstGeom>
        </p:spPr>
      </p:pic>
      <p:sp>
        <p:nvSpPr>
          <p:cNvPr id="26" name="AutoShape 26"/>
          <p:cNvSpPr/>
          <p:nvPr/>
        </p:nvSpPr>
        <p:spPr>
          <a:xfrm>
            <a:off x="9334500" y="5207000"/>
            <a:ext cx="101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333333"/>
                </a:solidFill>
                <a:latin typeface="Poppins"/>
                <a:ea typeface="Poppins"/>
                <a:cs typeface="Poppins"/>
                <a:sym typeface="Poppins"/>
              </a:rPr>
              <a:t>Analysis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635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329"/>
                </a:solidFill>
                <a:latin typeface="Poppins"/>
                <a:ea typeface="Poppins"/>
                <a:cs typeface="Poppins"/>
                <a:sym typeface="Poppins"/>
              </a:rPr>
              <a:t>Product-oriented Frontend</a:t>
            </a:r>
            <a:endParaRPr lang="en-US" sz="1100"/>
          </a:p>
        </p:txBody>
      </p:sp>
      <p:sp>
        <p:nvSpPr>
          <p:cNvPr id="3" name="AutoShape 3"/>
          <p:cNvSpPr/>
          <p:nvPr/>
        </p:nvSpPr>
        <p:spPr>
          <a:xfrm>
            <a:off x="762000" y="1524000"/>
            <a:ext cx="5080000" cy="2159000"/>
          </a:xfrm>
          <a:prstGeom prst="roundRect">
            <a:avLst>
              <a:gd name="adj" fmla="val 7058"/>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1676400"/>
            <a:ext cx="3810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Poppins"/>
                <a:ea typeface="Poppins"/>
                <a:cs typeface="Poppins"/>
                <a:sym typeface="Poppins"/>
              </a:rPr>
              <a:t>USER JOURNEY</a:t>
            </a:r>
            <a:endParaRPr lang="en-US" sz="1100"/>
          </a:p>
        </p:txBody>
      </p:sp>
      <p:sp>
        <p:nvSpPr>
          <p:cNvPr id="5" name="AutoShape 5"/>
          <p:cNvSpPr/>
          <p:nvPr/>
        </p:nvSpPr>
        <p:spPr>
          <a:xfrm>
            <a:off x="1016000" y="2159000"/>
            <a:ext cx="2286000" cy="635000"/>
          </a:xfrm>
          <a:prstGeom prst="roundRect">
            <a:avLst>
              <a:gd name="adj" fmla="val 1600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2324100"/>
            <a:ext cx="304800" cy="304800"/>
          </a:xfrm>
          <a:prstGeom prst="rect">
            <a:avLst/>
          </a:prstGeom>
        </p:spPr>
      </p:pic>
      <p:sp>
        <p:nvSpPr>
          <p:cNvPr id="7" name="AutoShape 7"/>
          <p:cNvSpPr/>
          <p:nvPr/>
        </p:nvSpPr>
        <p:spPr>
          <a:xfrm>
            <a:off x="1587500" y="22352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Login</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Secure user authentication</a:t>
            </a:r>
            <a:endParaRPr lang="en-US" sz="1100"/>
          </a:p>
        </p:txBody>
      </p:sp>
      <p:sp>
        <p:nvSpPr>
          <p:cNvPr id="8" name="AutoShape 8"/>
          <p:cNvSpPr/>
          <p:nvPr/>
        </p:nvSpPr>
        <p:spPr>
          <a:xfrm>
            <a:off x="3429000" y="2159000"/>
            <a:ext cx="2286000" cy="635000"/>
          </a:xfrm>
          <a:prstGeom prst="roundRect">
            <a:avLst>
              <a:gd name="adj" fmla="val 1600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6000" y="2324100"/>
            <a:ext cx="304800" cy="304800"/>
          </a:xfrm>
          <a:prstGeom prst="rect">
            <a:avLst/>
          </a:prstGeom>
        </p:spPr>
      </p:pic>
      <p:sp>
        <p:nvSpPr>
          <p:cNvPr id="10" name="AutoShape 10"/>
          <p:cNvSpPr/>
          <p:nvPr/>
        </p:nvSpPr>
        <p:spPr>
          <a:xfrm>
            <a:off x="4000500" y="22352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Home</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Landing page &amp; main nav</a:t>
            </a:r>
            <a:endParaRPr lang="en-US" sz="1100"/>
          </a:p>
        </p:txBody>
      </p:sp>
      <p:sp>
        <p:nvSpPr>
          <p:cNvPr id="11" name="AutoShape 11"/>
          <p:cNvSpPr/>
          <p:nvPr/>
        </p:nvSpPr>
        <p:spPr>
          <a:xfrm>
            <a:off x="1016000" y="2921000"/>
            <a:ext cx="2286000" cy="635000"/>
          </a:xfrm>
          <a:prstGeom prst="roundRect">
            <a:avLst>
              <a:gd name="adj" fmla="val 1600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3086100"/>
            <a:ext cx="304800" cy="304800"/>
          </a:xfrm>
          <a:prstGeom prst="rect">
            <a:avLst/>
          </a:prstGeom>
        </p:spPr>
      </p:pic>
      <p:sp>
        <p:nvSpPr>
          <p:cNvPr id="13" name="AutoShape 13"/>
          <p:cNvSpPr/>
          <p:nvPr/>
        </p:nvSpPr>
        <p:spPr>
          <a:xfrm>
            <a:off x="1587500" y="29972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Discover</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Browse full music catalog</a:t>
            </a:r>
            <a:endParaRPr lang="en-US" sz="1100"/>
          </a:p>
        </p:txBody>
      </p:sp>
      <p:sp>
        <p:nvSpPr>
          <p:cNvPr id="14" name="AutoShape 14"/>
          <p:cNvSpPr/>
          <p:nvPr/>
        </p:nvSpPr>
        <p:spPr>
          <a:xfrm>
            <a:off x="3429000" y="2921000"/>
            <a:ext cx="2286000" cy="635000"/>
          </a:xfrm>
          <a:prstGeom prst="roundRect">
            <a:avLst>
              <a:gd name="adj" fmla="val 1600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56000" y="3086100"/>
            <a:ext cx="304800" cy="304800"/>
          </a:xfrm>
          <a:prstGeom prst="rect">
            <a:avLst/>
          </a:prstGeom>
        </p:spPr>
      </p:pic>
      <p:sp>
        <p:nvSpPr>
          <p:cNvPr id="16" name="AutoShape 16"/>
          <p:cNvSpPr/>
          <p:nvPr/>
        </p:nvSpPr>
        <p:spPr>
          <a:xfrm>
            <a:off x="4000500" y="2997200"/>
            <a:ext cx="165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Favorites</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Manage liked song list</a:t>
            </a:r>
            <a:endParaRPr lang="en-US" sz="1100"/>
          </a:p>
        </p:txBody>
      </p:sp>
      <p:sp>
        <p:nvSpPr>
          <p:cNvPr id="17" name="AutoShape 17"/>
          <p:cNvSpPr/>
          <p:nvPr/>
        </p:nvSpPr>
        <p:spPr>
          <a:xfrm>
            <a:off x="762000" y="3810000"/>
            <a:ext cx="5080000" cy="2413000"/>
          </a:xfrm>
          <a:prstGeom prst="roundRect">
            <a:avLst>
              <a:gd name="adj" fmla="val 6315"/>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8" name="AutoShape 18"/>
          <p:cNvSpPr/>
          <p:nvPr/>
        </p:nvSpPr>
        <p:spPr>
          <a:xfrm>
            <a:off x="1016000" y="3962400"/>
            <a:ext cx="3810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E5FF"/>
                </a:solidFill>
                <a:latin typeface="Poppins"/>
                <a:ea typeface="Poppins"/>
                <a:cs typeface="Poppins"/>
                <a:sym typeface="Poppins"/>
              </a:rPr>
              <a:t>KEY FEATURES</a:t>
            </a:r>
            <a:endParaRPr lang="en-US" sz="1100"/>
          </a:p>
        </p:txBody>
      </p:sp>
      <p:sp>
        <p:nvSpPr>
          <p:cNvPr id="19" name="AutoShape 19"/>
          <p:cNvSpPr/>
          <p:nvPr/>
        </p:nvSpPr>
        <p:spPr>
          <a:xfrm>
            <a:off x="1016000" y="4445000"/>
            <a:ext cx="2286000" cy="762000"/>
          </a:xfrm>
          <a:prstGeom prst="roundRect">
            <a:avLst>
              <a:gd name="adj" fmla="val 13333"/>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4635500"/>
            <a:ext cx="355600" cy="355600"/>
          </a:xfrm>
          <a:prstGeom prst="rect">
            <a:avLst/>
          </a:prstGeom>
        </p:spPr>
      </p:pic>
      <p:sp>
        <p:nvSpPr>
          <p:cNvPr id="21" name="AutoShape 21"/>
          <p:cNvSpPr/>
          <p:nvPr/>
        </p:nvSpPr>
        <p:spPr>
          <a:xfrm>
            <a:off x="1651000" y="4546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Dynamic Cards</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Visually rich list browsing</a:t>
            </a:r>
            <a:endParaRPr lang="en-US" sz="1100"/>
          </a:p>
        </p:txBody>
      </p:sp>
      <p:sp>
        <p:nvSpPr>
          <p:cNvPr id="22" name="AutoShape 22"/>
          <p:cNvSpPr/>
          <p:nvPr/>
        </p:nvSpPr>
        <p:spPr>
          <a:xfrm>
            <a:off x="3429000" y="4445000"/>
            <a:ext cx="2286000" cy="762000"/>
          </a:xfrm>
          <a:prstGeom prst="roundRect">
            <a:avLst>
              <a:gd name="adj" fmla="val 13333"/>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556000" y="4635500"/>
            <a:ext cx="355600" cy="355600"/>
          </a:xfrm>
          <a:prstGeom prst="rect">
            <a:avLst/>
          </a:prstGeom>
        </p:spPr>
      </p:pic>
      <p:sp>
        <p:nvSpPr>
          <p:cNvPr id="24" name="AutoShape 24"/>
          <p:cNvSpPr/>
          <p:nvPr/>
        </p:nvSpPr>
        <p:spPr>
          <a:xfrm>
            <a:off x="4064000" y="4546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Instant Feedback</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Toast alerts on Like/Skip</a:t>
            </a:r>
            <a:endParaRPr lang="en-US" sz="1100"/>
          </a:p>
        </p:txBody>
      </p:sp>
      <p:sp>
        <p:nvSpPr>
          <p:cNvPr id="25" name="AutoShape 25"/>
          <p:cNvSpPr/>
          <p:nvPr/>
        </p:nvSpPr>
        <p:spPr>
          <a:xfrm>
            <a:off x="1016000" y="5334000"/>
            <a:ext cx="2286000" cy="762000"/>
          </a:xfrm>
          <a:prstGeom prst="roundRect">
            <a:avLst>
              <a:gd name="adj" fmla="val 13333"/>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43000" y="5524500"/>
            <a:ext cx="355600" cy="355600"/>
          </a:xfrm>
          <a:prstGeom prst="rect">
            <a:avLst/>
          </a:prstGeom>
        </p:spPr>
      </p:pic>
      <p:sp>
        <p:nvSpPr>
          <p:cNvPr id="27" name="AutoShape 27"/>
          <p:cNvSpPr/>
          <p:nvPr/>
        </p:nvSpPr>
        <p:spPr>
          <a:xfrm>
            <a:off x="1651000" y="5435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Deep Track Insights</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Audio features &amp; recs</a:t>
            </a:r>
            <a:endParaRPr lang="en-US" sz="1100"/>
          </a:p>
        </p:txBody>
      </p:sp>
      <p:sp>
        <p:nvSpPr>
          <p:cNvPr id="28" name="AutoShape 28"/>
          <p:cNvSpPr/>
          <p:nvPr/>
        </p:nvSpPr>
        <p:spPr>
          <a:xfrm>
            <a:off x="3429000" y="5334000"/>
            <a:ext cx="2286000" cy="762000"/>
          </a:xfrm>
          <a:prstGeom prst="roundRect">
            <a:avLst>
              <a:gd name="adj" fmla="val 13333"/>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556000" y="5524500"/>
            <a:ext cx="355600" cy="355600"/>
          </a:xfrm>
          <a:prstGeom prst="rect">
            <a:avLst/>
          </a:prstGeom>
        </p:spPr>
      </p:pic>
      <p:sp>
        <p:nvSpPr>
          <p:cNvPr id="30" name="AutoShape 30"/>
          <p:cNvSpPr/>
          <p:nvPr/>
        </p:nvSpPr>
        <p:spPr>
          <a:xfrm>
            <a:off x="4064000" y="54356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F2329"/>
                </a:solidFill>
                <a:latin typeface="Noto Sans SC"/>
                <a:ea typeface="Noto Sans SC"/>
                <a:cs typeface="Noto Sans SC"/>
                <a:sym typeface="Noto Sans SC"/>
              </a:rPr>
              <a:t>Profile Visualization</a:t>
            </a:r>
            <a:br>
              <a:rPr lang="en-US" sz="1600" b="0" i="0" u="none" strike="noStrike">
                <a:solidFill>
                  <a:srgbClr val="1F2329"/>
                </a:solidFill>
                <a:latin typeface="Noto Sans SC"/>
                <a:ea typeface="Noto Sans SC"/>
                <a:cs typeface="Noto Sans SC"/>
                <a:sym typeface="Noto Sans SC"/>
              </a:rPr>
            </a:br>
            <a:r>
              <a:rPr lang="en-US" sz="1000" b="0" i="0" u="none" strike="noStrike">
                <a:solidFill>
                  <a:srgbClr val="6B7280"/>
                </a:solidFill>
                <a:latin typeface="Noto Sans SC"/>
                <a:ea typeface="Noto Sans SC"/>
                <a:cs typeface="Noto Sans SC"/>
                <a:sym typeface="Noto Sans SC"/>
              </a:rPr>
              <a:t>Personal preference radar</a:t>
            </a:r>
            <a:endParaRPr lang="en-US" sz="1100"/>
          </a:p>
        </p:txBody>
      </p:sp>
      <p:pic>
        <p:nvPicPr>
          <p:cNvPr id="31" name="Picture 31"/>
          <p:cNvPicPr>
            <a:picLocks noChangeAspect="1"/>
          </p:cNvPicPr>
          <p:nvPr/>
        </p:nvPicPr>
        <p:blipFill>
          <a:blip r:embed="rId11"/>
          <a:srcRect l="19594" r="19594"/>
          <a:stretch>
            <a:fillRect/>
          </a:stretch>
        </p:blipFill>
        <p:spPr>
          <a:xfrm>
            <a:off x="6096000" y="1524000"/>
            <a:ext cx="5080000" cy="4699000"/>
          </a:xfrm>
          <a:prstGeom prst="roundRect">
            <a:avLst>
              <a:gd name="adj" fmla="val 4324"/>
            </a:avLst>
          </a:prstGeom>
          <a:solidFill>
            <a:srgbClr val="FFFFFF">
              <a:alpha val="100000"/>
            </a:srgbClr>
          </a:solidFill>
          <a:ln w="25400" cap="flat" cmpd="sng">
            <a:solidFill>
              <a:srgbClr val="E0E0E0">
                <a:alpha val="100000"/>
              </a:srgbClr>
            </a:solidFill>
            <a:prstDash val="solid"/>
            <a:round/>
          </a:ln>
          <a:effectLst>
            <a:outerShdw blurRad="254000" dist="101600" dir="2700000" algn="tl" rotWithShape="0">
              <a:srgbClr val="000000">
                <a:alpha val="1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Quality Assurance &amp; Compliance</a:t>
            </a:r>
            <a:endParaRPr lang="en-US" sz="1100"/>
          </a:p>
        </p:txBody>
      </p:sp>
      <p:sp>
        <p:nvSpPr>
          <p:cNvPr id="3" name="AutoShape 3"/>
          <p:cNvSpPr/>
          <p:nvPr/>
        </p:nvSpPr>
        <p:spPr>
          <a:xfrm>
            <a:off x="762000" y="1524000"/>
            <a:ext cx="5207000" cy="2413000"/>
          </a:xfrm>
          <a:prstGeom prst="roundRect">
            <a:avLst>
              <a:gd name="adj" fmla="val 5263"/>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1778000"/>
            <a:ext cx="762000" cy="762000"/>
          </a:xfrm>
          <a:prstGeom prst="ellipse">
            <a:avLst/>
          </a:prstGeom>
          <a:solidFill>
            <a:srgbClr val="007AFF">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3800" y="1955800"/>
            <a:ext cx="406400" cy="406400"/>
          </a:xfrm>
          <a:prstGeom prst="rect">
            <a:avLst/>
          </a:prstGeom>
        </p:spPr>
      </p:pic>
      <p:sp>
        <p:nvSpPr>
          <p:cNvPr id="6" name="AutoShape 6"/>
          <p:cNvSpPr/>
          <p:nvPr/>
        </p:nvSpPr>
        <p:spPr>
          <a:xfrm>
            <a:off x="2032000" y="184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AFF"/>
                </a:solidFill>
                <a:latin typeface="Poppins"/>
                <a:ea typeface="Poppins"/>
                <a:cs typeface="Poppins"/>
                <a:sym typeface="Poppins"/>
              </a:rPr>
              <a:t>Rigorous Manual Testing</a:t>
            </a:r>
            <a:endParaRPr lang="en-US" sz="1100"/>
          </a:p>
        </p:txBody>
      </p:sp>
      <p:sp>
        <p:nvSpPr>
          <p:cNvPr id="7" name="AutoShape 7"/>
          <p:cNvSpPr/>
          <p:nvPr/>
        </p:nvSpPr>
        <p:spPr>
          <a:xfrm>
            <a:off x="2032000" y="2413000"/>
            <a:ext cx="3556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333333"/>
                </a:solidFill>
                <a:latin typeface="Noto Sans SC"/>
                <a:ea typeface="Noto Sans SC"/>
                <a:cs typeface="Noto Sans SC"/>
                <a:sym typeface="Noto Sans SC"/>
              </a:rPr>
              <a:t>Validated all critical user flows (Auth, Favorites, Profile) and verified correct JSON responses &amp; status codes for both valid/invalid API requests.</a:t>
            </a:r>
            <a:endParaRPr lang="en-US" sz="1100"/>
          </a:p>
        </p:txBody>
      </p:sp>
      <p:sp>
        <p:nvSpPr>
          <p:cNvPr id="8" name="AutoShape 8"/>
          <p:cNvSpPr/>
          <p:nvPr/>
        </p:nvSpPr>
        <p:spPr>
          <a:xfrm>
            <a:off x="6223000" y="1524000"/>
            <a:ext cx="5207000" cy="2413000"/>
          </a:xfrm>
          <a:prstGeom prst="roundRect">
            <a:avLst>
              <a:gd name="adj" fmla="val 5263"/>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6477000" y="1778000"/>
            <a:ext cx="762000" cy="762000"/>
          </a:xfrm>
          <a:prstGeom prst="ellipse">
            <a:avLst/>
          </a:prstGeom>
          <a:solidFill>
            <a:srgbClr val="007AFF">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54800" y="1955800"/>
            <a:ext cx="406400" cy="406400"/>
          </a:xfrm>
          <a:prstGeom prst="rect">
            <a:avLst/>
          </a:prstGeom>
        </p:spPr>
      </p:pic>
      <p:sp>
        <p:nvSpPr>
          <p:cNvPr id="11" name="AutoShape 11"/>
          <p:cNvSpPr/>
          <p:nvPr/>
        </p:nvSpPr>
        <p:spPr>
          <a:xfrm>
            <a:off x="7493000" y="184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AFF"/>
                </a:solidFill>
                <a:latin typeface="Poppins"/>
                <a:ea typeface="Poppins"/>
                <a:cs typeface="Poppins"/>
                <a:sym typeface="Poppins"/>
              </a:rPr>
              <a:t>Semantic Error Handling</a:t>
            </a:r>
            <a:endParaRPr lang="en-US" sz="1100"/>
          </a:p>
        </p:txBody>
      </p:sp>
      <p:sp>
        <p:nvSpPr>
          <p:cNvPr id="12" name="AutoShape 12"/>
          <p:cNvSpPr/>
          <p:nvPr/>
        </p:nvSpPr>
        <p:spPr>
          <a:xfrm>
            <a:off x="7493000" y="2413000"/>
            <a:ext cx="36830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200" b="0" i="0" u="none" strike="noStrike">
                <a:solidFill>
                  <a:srgbClr val="333333"/>
                </a:solidFill>
                <a:latin typeface="Noto Sans SC"/>
                <a:ea typeface="Noto Sans SC"/>
                <a:cs typeface="Noto Sans SC"/>
                <a:sym typeface="Noto Sans SC"/>
              </a:rPr>
              <a:t>Implemented descriptive HTTP status codes: 400 (Bad Input), 401 (Auth Fail), 404 (Missing Res), 409 (Conflict), 422 (Validation Error).</a:t>
            </a:r>
            <a:endParaRPr lang="en-US" sz="1100"/>
          </a:p>
        </p:txBody>
      </p:sp>
      <p:sp>
        <p:nvSpPr>
          <p:cNvPr id="13" name="AutoShape 13"/>
          <p:cNvSpPr/>
          <p:nvPr/>
        </p:nvSpPr>
        <p:spPr>
          <a:xfrm>
            <a:off x="762000" y="4191000"/>
            <a:ext cx="5207000" cy="2159000"/>
          </a:xfrm>
          <a:prstGeom prst="roundRect">
            <a:avLst>
              <a:gd name="adj" fmla="val 5882"/>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1016000" y="4445000"/>
            <a:ext cx="762000" cy="762000"/>
          </a:xfrm>
          <a:prstGeom prst="ellipse">
            <a:avLst/>
          </a:prstGeom>
          <a:solidFill>
            <a:srgbClr val="007AFF">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3800" y="4622800"/>
            <a:ext cx="406400" cy="406400"/>
          </a:xfrm>
          <a:prstGeom prst="rect">
            <a:avLst/>
          </a:prstGeom>
        </p:spPr>
      </p:pic>
      <p:sp>
        <p:nvSpPr>
          <p:cNvPr id="16" name="AutoShape 16"/>
          <p:cNvSpPr/>
          <p:nvPr/>
        </p:nvSpPr>
        <p:spPr>
          <a:xfrm>
            <a:off x="2032000" y="4508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AFF"/>
                </a:solidFill>
                <a:latin typeface="Poppins"/>
                <a:ea typeface="Poppins"/>
                <a:cs typeface="Poppins"/>
                <a:sym typeface="Poppins"/>
              </a:rPr>
              <a:t>GitHub Version Control</a:t>
            </a:r>
            <a:endParaRPr lang="en-US" sz="1100"/>
          </a:p>
        </p:txBody>
      </p:sp>
      <p:sp>
        <p:nvSpPr>
          <p:cNvPr id="17" name="AutoShape 17"/>
          <p:cNvSpPr/>
          <p:nvPr/>
        </p:nvSpPr>
        <p:spPr>
          <a:xfrm>
            <a:off x="2032000" y="5080000"/>
            <a:ext cx="3556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333333"/>
                </a:solidFill>
                <a:latin typeface="Noto Sans SC"/>
                <a:ea typeface="Noto Sans SC"/>
                <a:cs typeface="Noto Sans SC"/>
                <a:sym typeface="Noto Sans SC"/>
              </a:rPr>
              <a:t>Maintained a clean, logical commit history with atomic commits grouped by feature implementation for full traceability.</a:t>
            </a:r>
            <a:endParaRPr lang="en-US" sz="1100"/>
          </a:p>
        </p:txBody>
      </p:sp>
      <p:sp>
        <p:nvSpPr>
          <p:cNvPr id="18" name="AutoShape 18"/>
          <p:cNvSpPr/>
          <p:nvPr/>
        </p:nvSpPr>
        <p:spPr>
          <a:xfrm>
            <a:off x="6223000" y="4191000"/>
            <a:ext cx="5207000" cy="2159000"/>
          </a:xfrm>
          <a:prstGeom prst="roundRect">
            <a:avLst>
              <a:gd name="adj" fmla="val 5882"/>
            </a:avLst>
          </a:prstGeom>
          <a:solidFill>
            <a:srgbClr val="FFFFFF">
              <a:alpha val="100000"/>
            </a:srgbClr>
          </a:solidFill>
          <a:ln w="12700" cap="flat" cmpd="sng">
            <a:solidFill>
              <a:srgbClr val="E0E0E0">
                <a:alpha val="100000"/>
              </a:srgbClr>
            </a:solidFill>
            <a:prstDash val="solid"/>
            <a:round/>
          </a:ln>
        </p:spPr>
        <p:txBody>
          <a:bodyPr vert="horz" wrap="square" lIns="0" tIns="0" rIns="0" bIns="0" rtlCol="0" anchor="ctr" anchorCtr="0"/>
          <a:lstStyle/>
          <a:p>
            <a:pPr algn="ctr">
              <a:defRPr/>
            </a:pPr>
            <a:endParaRPr/>
          </a:p>
        </p:txBody>
      </p:sp>
      <p:sp>
        <p:nvSpPr>
          <p:cNvPr id="19" name="AutoShape 19"/>
          <p:cNvSpPr/>
          <p:nvPr/>
        </p:nvSpPr>
        <p:spPr>
          <a:xfrm>
            <a:off x="6477000" y="4445000"/>
            <a:ext cx="762000" cy="762000"/>
          </a:xfrm>
          <a:prstGeom prst="ellipse">
            <a:avLst/>
          </a:prstGeom>
          <a:solidFill>
            <a:srgbClr val="007AFF">
              <a:alpha val="10000"/>
            </a:srgbClr>
          </a:solidFill>
          <a:ln w="25400" cap="flat" cmpd="sng">
            <a:noFill/>
            <a:prstDash val="solid"/>
            <a:round/>
          </a:ln>
        </p:spPr>
        <p:txBody>
          <a:bodyPr vert="horz" wrap="square" lIns="0" tIns="0" rIns="0" bIns="0" rtlCol="0" anchor="ctr" anchorCtr="0"/>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54800" y="4622800"/>
            <a:ext cx="406400" cy="406400"/>
          </a:xfrm>
          <a:prstGeom prst="rect">
            <a:avLst/>
          </a:prstGeom>
        </p:spPr>
      </p:pic>
      <p:sp>
        <p:nvSpPr>
          <p:cNvPr id="21" name="AutoShape 21"/>
          <p:cNvSpPr/>
          <p:nvPr/>
        </p:nvSpPr>
        <p:spPr>
          <a:xfrm>
            <a:off x="7493000" y="4508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AFF"/>
                </a:solidFill>
                <a:latin typeface="Poppins"/>
                <a:ea typeface="Poppins"/>
                <a:cs typeface="Poppins"/>
                <a:sym typeface="Poppins"/>
              </a:rPr>
              <a:t>GenAI Assistance Policy</a:t>
            </a:r>
            <a:endParaRPr lang="en-US" sz="1100"/>
          </a:p>
        </p:txBody>
      </p:sp>
      <p:sp>
        <p:nvSpPr>
          <p:cNvPr id="22" name="AutoShape 22"/>
          <p:cNvSpPr/>
          <p:nvPr/>
        </p:nvSpPr>
        <p:spPr>
          <a:xfrm>
            <a:off x="7493000" y="5080000"/>
            <a:ext cx="3683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333333"/>
                </a:solidFill>
                <a:latin typeface="Noto Sans SC"/>
                <a:ea typeface="Noto Sans SC"/>
                <a:cs typeface="Noto Sans SC"/>
                <a:sym typeface="Noto Sans SC"/>
              </a:rPr>
              <a:t>Used for brainstorming &amp; debug suggestions only. All core logic, code implementation, and final QA were completed personally.</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Poppins"/>
                <a:ea typeface="Poppins"/>
                <a:cs typeface="Poppins"/>
                <a:sym typeface="Poppins"/>
              </a:rPr>
              <a:t>Conclusion &amp; Future Work</a:t>
            </a:r>
            <a:endParaRPr lang="en-US" sz="1100"/>
          </a:p>
        </p:txBody>
      </p:sp>
      <p:sp>
        <p:nvSpPr>
          <p:cNvPr id="3" name="AutoShape 3"/>
          <p:cNvSpPr/>
          <p:nvPr/>
        </p:nvSpPr>
        <p:spPr>
          <a:xfrm>
            <a:off x="762000" y="1524000"/>
            <a:ext cx="3302000" cy="3429000"/>
          </a:xfrm>
          <a:prstGeom prst="roundRect">
            <a:avLst>
              <a:gd name="adj" fmla="val 4615"/>
            </a:avLst>
          </a:prstGeom>
          <a:solidFill>
            <a:srgbClr val="F9FAFB">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68500" y="1778000"/>
            <a:ext cx="889000" cy="889000"/>
          </a:xfrm>
          <a:prstGeom prst="rect">
            <a:avLst/>
          </a:prstGeom>
        </p:spPr>
      </p:pic>
      <p:sp>
        <p:nvSpPr>
          <p:cNvPr id="5" name="AutoShape 5"/>
          <p:cNvSpPr/>
          <p:nvPr/>
        </p:nvSpPr>
        <p:spPr>
          <a:xfrm>
            <a:off x="1016000" y="2794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3B82F6"/>
                </a:solidFill>
                <a:latin typeface="Poppins"/>
                <a:ea typeface="Poppins"/>
                <a:cs typeface="Poppins"/>
                <a:sym typeface="Poppins"/>
              </a:rPr>
              <a:t>KEY ACHIEVEMENTS</a:t>
            </a:r>
            <a:endParaRPr lang="en-US" sz="1100"/>
          </a:p>
        </p:txBody>
      </p:sp>
      <p:sp>
        <p:nvSpPr>
          <p:cNvPr id="6" name="AutoShape 6"/>
          <p:cNvSpPr/>
          <p:nvPr/>
        </p:nvSpPr>
        <p:spPr>
          <a:xfrm>
            <a:off x="1968500" y="3302000"/>
            <a:ext cx="889000" cy="381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3556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6B7280"/>
                </a:solidFill>
                <a:latin typeface="Poppins"/>
                <a:ea typeface="Poppins"/>
                <a:cs typeface="Poppins"/>
                <a:sym typeface="Poppins"/>
              </a:rPr>
              <a:t>• Delivered a full CRUD database-driven API</a:t>
            </a:r>
            <a:endParaRPr lang="en-US" sz="1100"/>
          </a:p>
          <a:p>
            <a:pPr indent="0" algn="l">
              <a:lnSpc>
                <a:spcPct val="108333"/>
              </a:lnSpc>
            </a:pPr>
            <a:r>
              <a:rPr lang="en-US" sz="1100" b="0" i="0" u="none" strike="noStrike">
                <a:solidFill>
                  <a:srgbClr val="6B7280"/>
                </a:solidFill>
                <a:latin typeface="Poppins"/>
                <a:ea typeface="Poppins"/>
                <a:cs typeface="Poppins"/>
                <a:sym typeface="Poppins"/>
              </a:rPr>
              <a:t>• Implemented secure auth &amp; authorization</a:t>
            </a:r>
          </a:p>
          <a:p>
            <a:pPr indent="0" algn="l">
              <a:lnSpc>
                <a:spcPct val="108333"/>
              </a:lnSpc>
            </a:pPr>
            <a:r>
              <a:rPr lang="en-US" sz="1100" b="0" i="0" u="none" strike="noStrike">
                <a:solidFill>
                  <a:srgbClr val="6B7280"/>
                </a:solidFill>
                <a:latin typeface="Poppins"/>
                <a:ea typeface="Poppins"/>
                <a:cs typeface="Poppins"/>
                <a:sym typeface="Poppins"/>
              </a:rPr>
              <a:t>• Provided song similarity &amp; profiling tools</a:t>
            </a:r>
          </a:p>
          <a:p>
            <a:pPr indent="0" algn="l">
              <a:lnSpc>
                <a:spcPct val="108333"/>
              </a:lnSpc>
            </a:pPr>
            <a:r>
              <a:rPr lang="en-US" sz="1100" b="0" i="0" u="none" strike="noStrike">
                <a:solidFill>
                  <a:srgbClr val="6B7280"/>
                </a:solidFill>
                <a:latin typeface="Poppins"/>
                <a:ea typeface="Poppins"/>
                <a:cs typeface="Poppins"/>
                <a:sym typeface="Poppins"/>
              </a:rPr>
              <a:t>• Attached product-oriented React frontend</a:t>
            </a:r>
          </a:p>
        </p:txBody>
      </p:sp>
      <p:sp>
        <p:nvSpPr>
          <p:cNvPr id="8" name="AutoShape 8"/>
          <p:cNvSpPr/>
          <p:nvPr/>
        </p:nvSpPr>
        <p:spPr>
          <a:xfrm>
            <a:off x="4445000" y="1524000"/>
            <a:ext cx="3302000" cy="3429000"/>
          </a:xfrm>
          <a:prstGeom prst="roundRect">
            <a:avLst>
              <a:gd name="adj" fmla="val 4615"/>
            </a:avLst>
          </a:prstGeom>
          <a:solidFill>
            <a:srgbClr val="F9FAFB">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1778000"/>
            <a:ext cx="889000" cy="889000"/>
          </a:xfrm>
          <a:prstGeom prst="rect">
            <a:avLst/>
          </a:prstGeom>
        </p:spPr>
      </p:pic>
      <p:sp>
        <p:nvSpPr>
          <p:cNvPr id="10" name="AutoShape 10"/>
          <p:cNvSpPr/>
          <p:nvPr/>
        </p:nvSpPr>
        <p:spPr>
          <a:xfrm>
            <a:off x="4699000" y="2794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97316"/>
                </a:solidFill>
                <a:latin typeface="Poppins"/>
                <a:ea typeface="Poppins"/>
                <a:cs typeface="Poppins"/>
                <a:sym typeface="Poppins"/>
              </a:rPr>
              <a:t>KNOWN LIMITATIONS</a:t>
            </a:r>
            <a:endParaRPr lang="en-US" sz="1100"/>
          </a:p>
        </p:txBody>
      </p:sp>
      <p:sp>
        <p:nvSpPr>
          <p:cNvPr id="11" name="AutoShape 11"/>
          <p:cNvSpPr/>
          <p:nvPr/>
        </p:nvSpPr>
        <p:spPr>
          <a:xfrm>
            <a:off x="5651500" y="3302000"/>
            <a:ext cx="889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99000" y="3556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6B7280"/>
                </a:solidFill>
                <a:latin typeface="Poppins"/>
                <a:ea typeface="Poppins"/>
                <a:cs typeface="Poppins"/>
                <a:sym typeface="Poppins"/>
              </a:rPr>
              <a:t>• Spotify integration is manual (no auto-import)</a:t>
            </a:r>
            <a:endParaRPr lang="en-US" sz="1100"/>
          </a:p>
          <a:p>
            <a:pPr indent="0" algn="l">
              <a:lnSpc>
                <a:spcPct val="108333"/>
              </a:lnSpc>
            </a:pPr>
            <a:r>
              <a:rPr lang="en-US" sz="1100" b="0" i="0" u="none" strike="noStrike">
                <a:solidFill>
                  <a:srgbClr val="6B7280"/>
                </a:solidFill>
                <a:latin typeface="Poppins"/>
                <a:ea typeface="Poppins"/>
                <a:cs typeface="Poppins"/>
                <a:sym typeface="Poppins"/>
              </a:rPr>
              <a:t>• Password hashing uses a basic scheme</a:t>
            </a:r>
          </a:p>
          <a:p>
            <a:pPr indent="0" algn="l">
              <a:lnSpc>
                <a:spcPct val="108333"/>
              </a:lnSpc>
            </a:pPr>
            <a:r>
              <a:rPr lang="en-US" sz="1100" b="0" i="0" u="none" strike="noStrike">
                <a:solidFill>
                  <a:srgbClr val="6B7280"/>
                </a:solidFill>
                <a:latin typeface="Poppins"/>
                <a:ea typeface="Poppins"/>
                <a:cs typeface="Poppins"/>
                <a:sym typeface="Poppins"/>
              </a:rPr>
              <a:t>• Lack of automated test suites</a:t>
            </a:r>
          </a:p>
          <a:p>
            <a:pPr indent="0" algn="l">
              <a:lnSpc>
                <a:spcPct val="108333"/>
              </a:lnSpc>
            </a:pPr>
            <a:r>
              <a:rPr lang="en-US" sz="1100" b="0" i="0" u="none" strike="noStrike">
                <a:solidFill>
                  <a:srgbClr val="6B7280"/>
                </a:solidFill>
                <a:latin typeface="Poppins"/>
                <a:ea typeface="Poppins"/>
                <a:cs typeface="Poppins"/>
                <a:sym typeface="Poppins"/>
              </a:rPr>
              <a:t>• Limited error handling for edge cases</a:t>
            </a:r>
          </a:p>
        </p:txBody>
      </p:sp>
      <p:sp>
        <p:nvSpPr>
          <p:cNvPr id="13" name="AutoShape 13"/>
          <p:cNvSpPr/>
          <p:nvPr/>
        </p:nvSpPr>
        <p:spPr>
          <a:xfrm>
            <a:off x="8128000" y="1524000"/>
            <a:ext cx="3302000" cy="3429000"/>
          </a:xfrm>
          <a:prstGeom prst="roundRect">
            <a:avLst>
              <a:gd name="adj" fmla="val 4615"/>
            </a:avLst>
          </a:prstGeom>
          <a:solidFill>
            <a:srgbClr val="F9FAFB">
              <a:alpha val="100000"/>
            </a:srgbClr>
          </a:solidFill>
          <a:ln w="25400" cap="flat" cmpd="sng">
            <a:noFill/>
            <a:prstDash val="solid"/>
            <a:round/>
          </a:ln>
          <a:effectLst>
            <a:outerShdw blurRad="190500" dist="50800" dir="5400000" algn="tl" rotWithShape="0">
              <a:srgbClr val="000000">
                <a:alpha val="6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34500" y="1778000"/>
            <a:ext cx="889000" cy="889000"/>
          </a:xfrm>
          <a:prstGeom prst="rect">
            <a:avLst/>
          </a:prstGeom>
        </p:spPr>
      </p:pic>
      <p:sp>
        <p:nvSpPr>
          <p:cNvPr id="15" name="AutoShape 15"/>
          <p:cNvSpPr/>
          <p:nvPr/>
        </p:nvSpPr>
        <p:spPr>
          <a:xfrm>
            <a:off x="8382000" y="2794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0B981"/>
                </a:solidFill>
                <a:latin typeface="Poppins"/>
                <a:ea typeface="Poppins"/>
                <a:cs typeface="Poppins"/>
                <a:sym typeface="Poppins"/>
              </a:rPr>
              <a:t>NEXT STEPS</a:t>
            </a:r>
            <a:endParaRPr lang="en-US" sz="1100"/>
          </a:p>
        </p:txBody>
      </p:sp>
      <p:sp>
        <p:nvSpPr>
          <p:cNvPr id="16" name="AutoShape 16"/>
          <p:cNvSpPr/>
          <p:nvPr/>
        </p:nvSpPr>
        <p:spPr>
          <a:xfrm>
            <a:off x="9334500" y="3302000"/>
            <a:ext cx="8890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382000" y="3556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100" b="0" i="0" u="none" strike="noStrike">
                <a:solidFill>
                  <a:srgbClr val="6B7280"/>
                </a:solidFill>
                <a:latin typeface="Poppins"/>
                <a:ea typeface="Poppins"/>
                <a:cs typeface="Poppins"/>
                <a:sym typeface="Poppins"/>
              </a:rPr>
              <a:t>• Implement JWT refresh token mechanism</a:t>
            </a:r>
            <a:endParaRPr lang="en-US" sz="1100"/>
          </a:p>
          <a:p>
            <a:pPr indent="0" algn="l">
              <a:lnSpc>
                <a:spcPct val="108333"/>
              </a:lnSpc>
            </a:pPr>
            <a:r>
              <a:rPr lang="en-US" sz="1100" b="0" i="0" u="none" strike="noStrike">
                <a:solidFill>
                  <a:srgbClr val="6B7280"/>
                </a:solidFill>
                <a:latin typeface="Poppins"/>
                <a:ea typeface="Poppins"/>
                <a:cs typeface="Poppins"/>
                <a:sym typeface="Poppins"/>
              </a:rPr>
              <a:t>• Build real-time Spotify search &amp; recommendation</a:t>
            </a:r>
          </a:p>
          <a:p>
            <a:pPr indent="0" algn="l">
              <a:lnSpc>
                <a:spcPct val="108333"/>
              </a:lnSpc>
            </a:pPr>
            <a:r>
              <a:rPr lang="en-US" sz="1100" b="0" i="0" u="none" strike="noStrike">
                <a:solidFill>
                  <a:srgbClr val="6B7280"/>
                </a:solidFill>
                <a:latin typeface="Poppins"/>
                <a:ea typeface="Poppins"/>
                <a:cs typeface="Poppins"/>
                <a:sym typeface="Poppins"/>
              </a:rPr>
              <a:t>• Add visualizations for recommendation logic</a:t>
            </a:r>
          </a:p>
          <a:p>
            <a:pPr indent="0" algn="l">
              <a:lnSpc>
                <a:spcPct val="108333"/>
              </a:lnSpc>
            </a:pPr>
            <a:r>
              <a:rPr lang="en-US" sz="1100" b="0" i="0" u="none" strike="noStrike">
                <a:solidFill>
                  <a:srgbClr val="6B7280"/>
                </a:solidFill>
                <a:latin typeface="Poppins"/>
                <a:ea typeface="Poppins"/>
                <a:cs typeface="Poppins"/>
                <a:sym typeface="Poppins"/>
              </a:rPr>
              <a:t>• Deploy to cloud (AWS/GCP) with CI/CD</a:t>
            </a:r>
          </a:p>
        </p:txBody>
      </p:sp>
      <p:sp>
        <p:nvSpPr>
          <p:cNvPr id="18" name="AutoShape 18"/>
          <p:cNvSpPr/>
          <p:nvPr/>
        </p:nvSpPr>
        <p:spPr>
          <a:xfrm>
            <a:off x="0" y="5334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600" b="1" i="0" u="none" strike="noStrike" spc="400">
                <a:solidFill>
                  <a:srgbClr val="333333"/>
                </a:solidFill>
                <a:latin typeface="Poppins"/>
                <a:ea typeface="Poppins"/>
                <a:cs typeface="Poppins"/>
                <a:sym typeface="Poppins"/>
              </a:rPr>
              <a:t>Q&amp;A</a:t>
            </a:r>
            <a:endParaRPr lang="en-US" sz="1100"/>
          </a:p>
        </p:txBody>
      </p:sp>
      <p:pic>
        <p:nvPicPr>
          <p:cNvPr id="19" name="Picture 19"/>
          <p:cNvPicPr>
            <a:picLocks noChangeAspect="1"/>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1783</Words>
  <Application>Microsoft Office PowerPoint</Application>
  <PresentationFormat>宽屏</PresentationFormat>
  <Paragraphs>175</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10</vt:i4>
      </vt:variant>
    </vt:vector>
  </HeadingPairs>
  <TitlesOfParts>
    <vt:vector size="16" baseType="lpstr">
      <vt:lpstr>Noto Sans SC</vt:lpstr>
      <vt:lpstr>Arial</vt:lpstr>
      <vt:lpstr>Consolas</vt:lpstr>
      <vt:lpstr>Poppins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凡驭 易</cp:lastModifiedBy>
  <cp:revision>2</cp:revision>
  <dcterms:modified xsi:type="dcterms:W3CDTF">2026-04-21T13:11:38Z</dcterms:modified>
</cp:coreProperties>
</file>